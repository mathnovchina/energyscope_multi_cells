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Economica"/>
      <p:regular r:id="rId29"/>
      <p:bold r:id="rId30"/>
      <p:italic r:id="rId31"/>
      <p:boldItalic r:id="rId32"/>
    </p:embeddedFont>
    <p:embeddedFont>
      <p:font typeface="Open Sans SemiBold"/>
      <p:regular r:id="rId33"/>
      <p:bold r:id="rId34"/>
      <p:italic r:id="rId35"/>
      <p:boldItalic r:id="rId36"/>
    </p:embeddedFont>
    <p:embeddedFont>
      <p:font typeface="Gill Sans"/>
      <p:regular r:id="rId37"/>
      <p:bold r:id="rId38"/>
    </p:embeddedFont>
    <p:embeddedFont>
      <p:font typeface="Alfa Slab One"/>
      <p:regular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5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6.xml"/><Relationship Id="rId33" Type="http://schemas.openxmlformats.org/officeDocument/2006/relationships/font" Target="fonts/OpenSans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SemiBold-italic.fntdata"/><Relationship Id="rId12" Type="http://schemas.openxmlformats.org/officeDocument/2006/relationships/slide" Target="slides/slide7.xml"/><Relationship Id="rId34" Type="http://schemas.openxmlformats.org/officeDocument/2006/relationships/font" Target="fonts/OpenSansSemiBold-bold.fntdata"/><Relationship Id="rId15" Type="http://schemas.openxmlformats.org/officeDocument/2006/relationships/slide" Target="slides/slide10.xml"/><Relationship Id="rId37" Type="http://schemas.openxmlformats.org/officeDocument/2006/relationships/font" Target="fonts/GillSans-regular.fntdata"/><Relationship Id="rId14" Type="http://schemas.openxmlformats.org/officeDocument/2006/relationships/slide" Target="slides/slide9.xml"/><Relationship Id="rId36" Type="http://schemas.openxmlformats.org/officeDocument/2006/relationships/font" Target="fonts/OpenSansSemi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AlfaSlabOne-regular.fntdata"/><Relationship Id="rId16" Type="http://schemas.openxmlformats.org/officeDocument/2006/relationships/slide" Target="slides/slide11.xml"/><Relationship Id="rId38" Type="http://schemas.openxmlformats.org/officeDocument/2006/relationships/font" Target="fonts/Gill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650c51fd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d650c51fd5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650c51fd5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650c51fd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PhD topic, example of check republic 2015 bark beetle, 2019 salvaging log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 EUR 1.12 billion (Toth et al., 2020)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33c68586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33c68586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650c51fd5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650c51fd5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696bd102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696bd102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335ed15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335ed15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335ed154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335ed15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3389ab7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3389ab7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3389ab76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3389ab76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3389ab76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3389ab76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652dd38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652dd38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652dd381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652dd381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652dd381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652dd38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652dd381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652dd381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52dd381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652dd381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5ec3a705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5ec3a705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5ec3a6e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5ec3a6e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5ec3a705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5ec3a70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ec3a705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5ec3a705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5ec3a705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5ec3a705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5ec3a705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5ec3a705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all three unconstrained cases, demand is met entirely by the cheapest biomass source: industrial wood by-products.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Higher-cost domestic biomass is only needed when the climate target becomes stringent.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</a:t>
            </a:r>
            <a:r>
              <a:rPr lang="en-GB"/>
              <a:t>emoving nuclear substantially increases biomass demand in S1 and 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(from 74.2 TWh to 100.4 TWh in S1, and to 96.2 TWh in S2),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S3 cannot expand further because its 40 TWh domestic ceiling is already binding, making wind turbine construction and exploitation less costly than the Rest of the world import Backup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(vs S2 BAU reference) tells the story: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 unconstrained → 22.5 billions euros per year ±0 M€ (it is the reference)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S1 -95% nuclear phase-out → +476 M€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S3 -95% nuclear phase-out → +1,438 M€ — the most expensive case by far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forest scenario adds cost; losing nuclear multiplies it.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5ec3a705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5ec3a705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27.9 TWh is directed to high-value-chemicals production </a:t>
            </a:r>
            <a:r>
              <a:rPr lang="en-GB"/>
              <a:t>and approximately</a:t>
            </a:r>
            <a:r>
              <a:rPr b="1" lang="en-GB"/>
              <a:t> 0.8 TWh to methanol synthesis</a:t>
            </a:r>
            <a:r>
              <a:rPr lang="en-GB"/>
              <a:t> across all nine scenarios – a near-constant baseline driven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exogenous non-energy industrial demand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 and S2 converge completely under</a:t>
            </a:r>
            <a:r>
              <a:rPr b="1" lang="en-GB"/>
              <a:t> -95% + nuclear (85.3 TWh each)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 -95% GHG with nuclear, S1 and S2 both land at exactly 85.3 TWh with near-identical allocation. The optimizer finds the same solution regardless of whether wood is available — the constraint is the GHG budget, not the wood supply.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pink bar (mobility fuels) is near-zero in unconstrained scenarios but becomes the dominant marginal use as the GHG constraint increases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model is diverting biomass to transport decarbonisation,through Fischer-Tropsch biomass-to-diesel technology  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/>
              <a:t> — the most difficult sector to electrify, especially when there is no nuclear,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case of the hard cap scenario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wood capped at 40 TWh and nuclear gone, BIOMASS_TO_DIESEL contributes essentially nothing (0.15 GWh, negligible) because the remaining domestic wood is fully absorbed by heating and industrial uses that have no cheaper substitute — so the model decarbonises mobility by route-switching entirely: private cars go 100% battery-electric, road freight goes 100% hydrogen fuel-cell trucks, and international shipping goes 100% ammonia fuel-cell vessels, with all made from wind electricity via electrolysis. Aviation is the one sector the model cannot decarbonise cleanly in this scenario — it falls back on imported fossil diesel + imported renewable diesel converted to jet fuel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Trade off between biodiversity safeguard cap on biomass exploitation and transport decarbonation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652dd381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652dd381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Relationship Id="rId4" Type="http://schemas.openxmlformats.org/officeDocument/2006/relationships/image" Target="../media/image33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Aesthetic liquid watercolor and ink" id="63" name="Google Shape;63;p13"/>
          <p:cNvPicPr preferRelativeResize="0"/>
          <p:nvPr/>
        </p:nvPicPr>
        <p:blipFill rotWithShape="1">
          <a:blip r:embed="rId3">
            <a:alphaModFix amt="60000"/>
          </a:blip>
          <a:srcRect b="6651" l="0" r="0" t="1857"/>
          <a:stretch/>
        </p:blipFill>
        <p:spPr>
          <a:xfrm>
            <a:off x="15" y="8"/>
            <a:ext cx="9141693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type="ctrTitle"/>
          </p:nvPr>
        </p:nvSpPr>
        <p:spPr>
          <a:xfrm>
            <a:off x="323843" y="339844"/>
            <a:ext cx="8496300" cy="20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7619"/>
              <a:buFont typeface="Gill Sans"/>
              <a:buNone/>
            </a:pPr>
            <a:r>
              <a:rPr b="1" lang="en-GB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From Bioeconomy Promise to Biodiversity Ceiling</a:t>
            </a:r>
            <a:endParaRPr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7619"/>
              <a:buFont typeface="Gill Sans"/>
              <a:buNone/>
            </a:pPr>
            <a:r>
              <a:t/>
            </a:r>
            <a:endParaRPr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59052"/>
              <a:buFont typeface="Gill Sans"/>
              <a:buNone/>
            </a:pPr>
            <a:r>
              <a:rPr b="1" lang="en-GB" sz="25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Role of Forest Biomass in Finnish Decarbonisation </a:t>
            </a:r>
            <a:endParaRPr b="1" sz="2578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295669" y="1601439"/>
            <a:ext cx="7226700" cy="22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lang="en-GB">
                <a:solidFill>
                  <a:schemeClr val="lt1"/>
                </a:solidFill>
              </a:rPr>
              <a:t>Matthieu Bordenave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lang="en-GB">
                <a:solidFill>
                  <a:schemeClr val="lt1"/>
                </a:solidFill>
              </a:rPr>
              <a:t>Sup: Pr. D’Alessandro and Pr. Jeanmart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" name="Google Shape;66;p13" title="university-of-pisa-school-of-engineering-campus-b-logo-universita-di-pisa-skybox-634134fa96d64e91c2414eb2c34ef4fa.png"/>
          <p:cNvPicPr preferRelativeResize="0"/>
          <p:nvPr/>
        </p:nvPicPr>
        <p:blipFill rotWithShape="1">
          <a:blip r:embed="rId4">
            <a:alphaModFix/>
          </a:blip>
          <a:srcRect b="21117" l="0" r="0" t="0"/>
          <a:stretch/>
        </p:blipFill>
        <p:spPr>
          <a:xfrm>
            <a:off x="6733684" y="4223223"/>
            <a:ext cx="1838976" cy="84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0101" y="4321906"/>
            <a:ext cx="705974" cy="70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title="Logo-Epog-DoctoralNetwork-seu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6252" y="4065895"/>
            <a:ext cx="2328075" cy="1330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 title="logo_ucl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8856" y="4065902"/>
            <a:ext cx="988604" cy="12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th__2_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91173" y="4023063"/>
            <a:ext cx="1266725" cy="12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4"/>
          <p:cNvPicPr preferRelativeResize="0"/>
          <p:nvPr/>
        </p:nvPicPr>
        <p:blipFill rotWithShape="1">
          <a:blip r:embed="rId3">
            <a:alphaModFix/>
          </a:blip>
          <a:srcRect b="11379" l="0" r="0" t="0"/>
          <a:stretch/>
        </p:blipFill>
        <p:spPr>
          <a:xfrm>
            <a:off x="-317925" y="0"/>
            <a:ext cx="9461924" cy="505674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>
            <p:ph type="title"/>
          </p:nvPr>
        </p:nvSpPr>
        <p:spPr>
          <a:xfrm>
            <a:off x="311700" y="873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Introduction</a:t>
            </a:r>
            <a:endParaRPr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106425" y="3848750"/>
            <a:ext cx="7567500" cy="904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94921" name="adj4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Context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2445783" y="1833138"/>
            <a:ext cx="1769400" cy="755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74E13"/>
                </a:solidFill>
                <a:latin typeface="Alfa Slab One"/>
                <a:ea typeface="Alfa Slab One"/>
                <a:cs typeface="Alfa Slab One"/>
                <a:sym typeface="Alfa Slab One"/>
              </a:rPr>
              <a:t>Forest system</a:t>
            </a: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Mortality and growth 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Harvest and logging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Quality shifts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828783" y="875975"/>
            <a:ext cx="1617000" cy="681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8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Physical risks</a:t>
            </a: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Storms, drought, pest, wildfires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2607457" y="853638"/>
            <a:ext cx="2542200" cy="681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Policy and management constraints</a:t>
            </a:r>
            <a:r>
              <a:rPr lang="en-GB" sz="12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 sz="1200">
              <a:solidFill>
                <a:srgbClr val="0000FF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Forest managements, biodiversity, carbon sink, harvest rules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8" name="Google Shape;88;p15"/>
          <p:cNvCxnSpPr>
            <a:stCxn id="86" idx="2"/>
            <a:endCxn id="85" idx="0"/>
          </p:cNvCxnSpPr>
          <p:nvPr/>
        </p:nvCxnSpPr>
        <p:spPr>
          <a:xfrm>
            <a:off x="1637283" y="1557275"/>
            <a:ext cx="1693200" cy="27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5"/>
          <p:cNvCxnSpPr>
            <a:stCxn id="87" idx="2"/>
            <a:endCxn id="85" idx="0"/>
          </p:cNvCxnSpPr>
          <p:nvPr/>
        </p:nvCxnSpPr>
        <p:spPr>
          <a:xfrm flipH="1">
            <a:off x="3330457" y="1534938"/>
            <a:ext cx="548100" cy="29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5"/>
          <p:cNvSpPr/>
          <p:nvPr/>
        </p:nvSpPr>
        <p:spPr>
          <a:xfrm>
            <a:off x="1037850" y="2886426"/>
            <a:ext cx="2542200" cy="904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rPr>
              <a:t>Channel 1: Provisioning services to the real economy (level)</a:t>
            </a:r>
            <a:r>
              <a:rPr lang="en-GB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>
              <a:solidFill>
                <a:schemeClr val="accen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Biomass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191750" y="3946125"/>
            <a:ext cx="1258500" cy="681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Bioenergy feedstock</a:t>
            </a:r>
            <a:endParaRPr sz="1100"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Open Sans"/>
                <a:ea typeface="Open Sans"/>
                <a:cs typeface="Open Sans"/>
                <a:sym typeface="Open Sans"/>
              </a:rPr>
              <a:t>Heat, power, fuels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517600" y="3946125"/>
            <a:ext cx="1378200" cy="681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Material wood</a:t>
            </a:r>
            <a:endParaRPr sz="1100"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Open Sans"/>
                <a:ea typeface="Open Sans"/>
                <a:cs typeface="Open Sans"/>
                <a:sym typeface="Open Sans"/>
              </a:rPr>
              <a:t>Construction, pulp, panels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2991283" y="3946125"/>
            <a:ext cx="1310700" cy="681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Bio-based chemicals and bioplastics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4" name="Google Shape;94;p15"/>
          <p:cNvCxnSpPr>
            <a:stCxn id="90" idx="2"/>
            <a:endCxn id="91" idx="0"/>
          </p:cNvCxnSpPr>
          <p:nvPr/>
        </p:nvCxnSpPr>
        <p:spPr>
          <a:xfrm flipH="1">
            <a:off x="820950" y="3790926"/>
            <a:ext cx="1488000" cy="15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5"/>
          <p:cNvCxnSpPr>
            <a:stCxn id="90" idx="2"/>
            <a:endCxn id="92" idx="0"/>
          </p:cNvCxnSpPr>
          <p:nvPr/>
        </p:nvCxnSpPr>
        <p:spPr>
          <a:xfrm flipH="1">
            <a:off x="2206650" y="3790926"/>
            <a:ext cx="102300" cy="15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5"/>
          <p:cNvCxnSpPr>
            <a:stCxn id="90" idx="2"/>
            <a:endCxn id="93" idx="0"/>
          </p:cNvCxnSpPr>
          <p:nvPr/>
        </p:nvCxnSpPr>
        <p:spPr>
          <a:xfrm>
            <a:off x="2308950" y="3790926"/>
            <a:ext cx="1337700" cy="15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5"/>
          <p:cNvSpPr/>
          <p:nvPr/>
        </p:nvSpPr>
        <p:spPr>
          <a:xfrm>
            <a:off x="5366400" y="2920850"/>
            <a:ext cx="1876500" cy="681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Channel 2: </a:t>
            </a:r>
            <a:r>
              <a:rPr lang="en-GB">
                <a:solidFill>
                  <a:srgbClr val="BF9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Price Effects Channel</a:t>
            </a:r>
            <a:endParaRPr>
              <a:solidFill>
                <a:srgbClr val="BF9000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4520300" y="3980550"/>
            <a:ext cx="1258500" cy="681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Carbon tax</a:t>
            </a:r>
            <a:endParaRPr sz="1100"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Open Sans"/>
                <a:ea typeface="Open Sans"/>
                <a:cs typeface="Open Sans"/>
                <a:sym typeface="Open Sans"/>
              </a:rPr>
              <a:t>Price distortion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5846150" y="3980550"/>
            <a:ext cx="1378200" cy="681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Price volatility</a:t>
            </a:r>
            <a:endParaRPr sz="1100"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Due to supply shocks, sector losses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0" name="Google Shape;100;p15"/>
          <p:cNvCxnSpPr>
            <a:stCxn id="97" idx="2"/>
            <a:endCxn id="98" idx="0"/>
          </p:cNvCxnSpPr>
          <p:nvPr/>
        </p:nvCxnSpPr>
        <p:spPr>
          <a:xfrm flipH="1">
            <a:off x="5149650" y="3602150"/>
            <a:ext cx="1155000" cy="37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5"/>
          <p:cNvCxnSpPr>
            <a:stCxn id="97" idx="2"/>
            <a:endCxn id="99" idx="0"/>
          </p:cNvCxnSpPr>
          <p:nvPr/>
        </p:nvCxnSpPr>
        <p:spPr>
          <a:xfrm>
            <a:off x="6304650" y="3602150"/>
            <a:ext cx="230700" cy="37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5"/>
          <p:cNvCxnSpPr>
            <a:stCxn id="85" idx="2"/>
          </p:cNvCxnSpPr>
          <p:nvPr/>
        </p:nvCxnSpPr>
        <p:spPr>
          <a:xfrm flipH="1" rot="-5400000">
            <a:off x="3330483" y="2588238"/>
            <a:ext cx="600" cy="600"/>
          </a:xfrm>
          <a:prstGeom prst="curvedConnector3">
            <a:avLst>
              <a:gd fmla="val -263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5"/>
          <p:cNvCxnSpPr>
            <a:stCxn id="85" idx="2"/>
            <a:endCxn id="90" idx="0"/>
          </p:cNvCxnSpPr>
          <p:nvPr/>
        </p:nvCxnSpPr>
        <p:spPr>
          <a:xfrm rot="5400000">
            <a:off x="2670633" y="2226588"/>
            <a:ext cx="298200" cy="10215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5"/>
          <p:cNvCxnSpPr>
            <a:stCxn id="97" idx="0"/>
            <a:endCxn id="85" idx="2"/>
          </p:cNvCxnSpPr>
          <p:nvPr/>
        </p:nvCxnSpPr>
        <p:spPr>
          <a:xfrm flipH="1" rot="5400000">
            <a:off x="4651200" y="1267400"/>
            <a:ext cx="332700" cy="2974200"/>
          </a:xfrm>
          <a:prstGeom prst="curvedConnector3">
            <a:avLst>
              <a:gd fmla="val 4998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5"/>
          <p:cNvSpPr/>
          <p:nvPr/>
        </p:nvSpPr>
        <p:spPr>
          <a:xfrm>
            <a:off x="7807650" y="3739400"/>
            <a:ext cx="1047600" cy="553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Economic losses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673925" y="4293200"/>
            <a:ext cx="1378200" cy="681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International Trade leakages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778800" y="935275"/>
            <a:ext cx="2391000" cy="1328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9999"/>
                </a:solidFill>
                <a:latin typeface="Alfa Slab One"/>
                <a:ea typeface="Alfa Slab One"/>
                <a:cs typeface="Alfa Slab One"/>
                <a:sym typeface="Alfa Slab One"/>
              </a:rPr>
              <a:t>Potential other channels</a:t>
            </a:r>
            <a:endParaRPr>
              <a:solidFill>
                <a:srgbClr val="999999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Finance: credit risk, insurance, collateral</a:t>
            </a:r>
            <a:endParaRPr sz="11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Policy reactions: subsidies, bans</a:t>
            </a:r>
            <a:endParaRPr sz="11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1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8" name="Google Shape;108;p15"/>
          <p:cNvCxnSpPr>
            <a:stCxn id="107" idx="1"/>
            <a:endCxn id="85" idx="3"/>
          </p:cNvCxnSpPr>
          <p:nvPr/>
        </p:nvCxnSpPr>
        <p:spPr>
          <a:xfrm flipH="1">
            <a:off x="4215200" y="1599625"/>
            <a:ext cx="1563600" cy="6111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8094" l="6075" r="7270" t="5251"/>
          <a:stretch/>
        </p:blipFill>
        <p:spPr>
          <a:xfrm>
            <a:off x="1287450" y="1711088"/>
            <a:ext cx="1021500" cy="102152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8522884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7673925" y="4293200"/>
            <a:ext cx="1378200" cy="6813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International Trade leakages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06425" y="3848750"/>
            <a:ext cx="7567500" cy="936000"/>
          </a:xfrm>
          <a:prstGeom prst="rightArrowCallout">
            <a:avLst>
              <a:gd fmla="val 25000" name="adj1"/>
              <a:gd fmla="val 25000" name="adj2"/>
              <a:gd fmla="val 25000" name="adj3"/>
              <a:gd fmla="val 94921" name="adj4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6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Context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2445783" y="1833138"/>
            <a:ext cx="1769400" cy="755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74E13"/>
                </a:solidFill>
                <a:latin typeface="Alfa Slab One"/>
                <a:ea typeface="Alfa Slab One"/>
                <a:cs typeface="Alfa Slab One"/>
                <a:sym typeface="Alfa Slab One"/>
              </a:rPr>
              <a:t>Forest system</a:t>
            </a: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Mortality and growth 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Harvest and logging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Quality shifts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828783" y="875975"/>
            <a:ext cx="1617000" cy="681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8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Physical risks</a:t>
            </a: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Storms, drought, pest, wildfires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2607457" y="853638"/>
            <a:ext cx="2542200" cy="681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Policy and management constraints </a:t>
            </a:r>
            <a:endParaRPr sz="1200">
              <a:solidFill>
                <a:srgbClr val="0000FF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Forest managements, biodiversity, carbon sink, harvest rules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1" name="Google Shape;121;p16"/>
          <p:cNvCxnSpPr>
            <a:stCxn id="119" idx="2"/>
            <a:endCxn id="118" idx="0"/>
          </p:cNvCxnSpPr>
          <p:nvPr/>
        </p:nvCxnSpPr>
        <p:spPr>
          <a:xfrm>
            <a:off x="1637283" y="1557275"/>
            <a:ext cx="1693200" cy="27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6"/>
          <p:cNvCxnSpPr>
            <a:stCxn id="120" idx="2"/>
            <a:endCxn id="118" idx="0"/>
          </p:cNvCxnSpPr>
          <p:nvPr/>
        </p:nvCxnSpPr>
        <p:spPr>
          <a:xfrm flipH="1">
            <a:off x="3330457" y="1534938"/>
            <a:ext cx="548100" cy="29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6"/>
          <p:cNvSpPr/>
          <p:nvPr/>
        </p:nvSpPr>
        <p:spPr>
          <a:xfrm>
            <a:off x="1037850" y="2886426"/>
            <a:ext cx="2542200" cy="9045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rPr>
              <a:t>Channel 1: Provisioning services to the real economy (level) </a:t>
            </a:r>
            <a:endParaRPr>
              <a:solidFill>
                <a:schemeClr val="accen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Biomass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191750" y="3946125"/>
            <a:ext cx="1258500" cy="681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Bioenergy feedstock</a:t>
            </a:r>
            <a:endParaRPr sz="1100"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Open Sans"/>
                <a:ea typeface="Open Sans"/>
                <a:cs typeface="Open Sans"/>
                <a:sym typeface="Open Sans"/>
              </a:rPr>
              <a:t>Heat, power, fuels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1517600" y="3946125"/>
            <a:ext cx="1378200" cy="681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Material wood</a:t>
            </a:r>
            <a:endParaRPr sz="1100"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Open Sans"/>
                <a:ea typeface="Open Sans"/>
                <a:cs typeface="Open Sans"/>
                <a:sym typeface="Open Sans"/>
              </a:rPr>
              <a:t>Construction, pulp, panels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991283" y="3946125"/>
            <a:ext cx="1310700" cy="681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Bio-based chemicals and bioplastics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7" name="Google Shape;127;p16"/>
          <p:cNvCxnSpPr>
            <a:stCxn id="123" idx="2"/>
            <a:endCxn id="124" idx="0"/>
          </p:cNvCxnSpPr>
          <p:nvPr/>
        </p:nvCxnSpPr>
        <p:spPr>
          <a:xfrm flipH="1">
            <a:off x="820950" y="3790926"/>
            <a:ext cx="1488000" cy="15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6"/>
          <p:cNvCxnSpPr>
            <a:stCxn id="123" idx="2"/>
            <a:endCxn id="125" idx="0"/>
          </p:cNvCxnSpPr>
          <p:nvPr/>
        </p:nvCxnSpPr>
        <p:spPr>
          <a:xfrm flipH="1">
            <a:off x="2206650" y="3790926"/>
            <a:ext cx="102300" cy="15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6"/>
          <p:cNvCxnSpPr>
            <a:stCxn id="123" idx="2"/>
            <a:endCxn id="126" idx="0"/>
          </p:cNvCxnSpPr>
          <p:nvPr/>
        </p:nvCxnSpPr>
        <p:spPr>
          <a:xfrm>
            <a:off x="2308950" y="3790926"/>
            <a:ext cx="1337700" cy="15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6"/>
          <p:cNvSpPr/>
          <p:nvPr/>
        </p:nvSpPr>
        <p:spPr>
          <a:xfrm>
            <a:off x="5366400" y="2920850"/>
            <a:ext cx="1876500" cy="681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Channel 2: Price Effects Channel</a:t>
            </a:r>
            <a:endParaRPr>
              <a:solidFill>
                <a:srgbClr val="BF9000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520300" y="3980550"/>
            <a:ext cx="1258500" cy="681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Carbon tax</a:t>
            </a:r>
            <a:endParaRPr sz="1100"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Open Sans"/>
                <a:ea typeface="Open Sans"/>
                <a:cs typeface="Open Sans"/>
                <a:sym typeface="Open Sans"/>
              </a:rPr>
              <a:t>Price distortion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846150" y="3980550"/>
            <a:ext cx="1378200" cy="681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Price volatility</a:t>
            </a:r>
            <a:endParaRPr sz="1100"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Due to supply shocks, sector losses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3" name="Google Shape;133;p16"/>
          <p:cNvCxnSpPr>
            <a:stCxn id="130" idx="2"/>
            <a:endCxn id="131" idx="0"/>
          </p:cNvCxnSpPr>
          <p:nvPr/>
        </p:nvCxnSpPr>
        <p:spPr>
          <a:xfrm flipH="1">
            <a:off x="5149650" y="3602150"/>
            <a:ext cx="1155000" cy="37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6"/>
          <p:cNvCxnSpPr>
            <a:stCxn id="130" idx="2"/>
            <a:endCxn id="132" idx="0"/>
          </p:cNvCxnSpPr>
          <p:nvPr/>
        </p:nvCxnSpPr>
        <p:spPr>
          <a:xfrm>
            <a:off x="6304650" y="3602150"/>
            <a:ext cx="230700" cy="37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6"/>
          <p:cNvCxnSpPr>
            <a:stCxn id="118" idx="2"/>
          </p:cNvCxnSpPr>
          <p:nvPr/>
        </p:nvCxnSpPr>
        <p:spPr>
          <a:xfrm flipH="1" rot="-5400000">
            <a:off x="3330483" y="2588238"/>
            <a:ext cx="600" cy="600"/>
          </a:xfrm>
          <a:prstGeom prst="curvedConnector3">
            <a:avLst>
              <a:gd fmla="val -263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6"/>
          <p:cNvCxnSpPr>
            <a:stCxn id="118" idx="2"/>
            <a:endCxn id="123" idx="0"/>
          </p:cNvCxnSpPr>
          <p:nvPr/>
        </p:nvCxnSpPr>
        <p:spPr>
          <a:xfrm rot="5400000">
            <a:off x="2670633" y="2226588"/>
            <a:ext cx="298200" cy="10215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6"/>
          <p:cNvCxnSpPr>
            <a:stCxn id="130" idx="0"/>
            <a:endCxn id="118" idx="2"/>
          </p:cNvCxnSpPr>
          <p:nvPr/>
        </p:nvCxnSpPr>
        <p:spPr>
          <a:xfrm flipH="1" rot="5400000">
            <a:off x="4651200" y="1267400"/>
            <a:ext cx="332700" cy="2974200"/>
          </a:xfrm>
          <a:prstGeom prst="curvedConnector3">
            <a:avLst>
              <a:gd fmla="val 4998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6"/>
          <p:cNvSpPr/>
          <p:nvPr/>
        </p:nvSpPr>
        <p:spPr>
          <a:xfrm>
            <a:off x="5778800" y="935275"/>
            <a:ext cx="2391000" cy="1328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9999"/>
                </a:solidFill>
                <a:latin typeface="Alfa Slab One"/>
                <a:ea typeface="Alfa Slab One"/>
                <a:cs typeface="Alfa Slab One"/>
                <a:sym typeface="Alfa Slab One"/>
              </a:rPr>
              <a:t>Potential other channels</a:t>
            </a:r>
            <a:endParaRPr>
              <a:solidFill>
                <a:srgbClr val="999999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Finance: credit risk, insurance, collateral</a:t>
            </a:r>
            <a:endParaRPr sz="11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Policy reactions: subsidies, bans</a:t>
            </a:r>
            <a:endParaRPr sz="11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1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9" name="Google Shape;139;p16"/>
          <p:cNvCxnSpPr>
            <a:stCxn id="138" idx="1"/>
            <a:endCxn id="118" idx="3"/>
          </p:cNvCxnSpPr>
          <p:nvPr/>
        </p:nvCxnSpPr>
        <p:spPr>
          <a:xfrm flipH="1">
            <a:off x="4215200" y="1599625"/>
            <a:ext cx="1563600" cy="6111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40" name="Google Shape;140;p16"/>
          <p:cNvPicPr preferRelativeResize="0"/>
          <p:nvPr/>
        </p:nvPicPr>
        <p:blipFill rotWithShape="1">
          <a:blip r:embed="rId3">
            <a:alphaModFix/>
          </a:blip>
          <a:srcRect b="8094" l="6075" r="7270" t="5251"/>
          <a:stretch/>
        </p:blipFill>
        <p:spPr>
          <a:xfrm>
            <a:off x="1287450" y="1711088"/>
            <a:ext cx="1021500" cy="102152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/>
          <p:nvPr/>
        </p:nvSpPr>
        <p:spPr>
          <a:xfrm>
            <a:off x="57575" y="3758575"/>
            <a:ext cx="1435800" cy="1021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2" name="Google Shape;142;p16"/>
          <p:cNvCxnSpPr/>
          <p:nvPr/>
        </p:nvCxnSpPr>
        <p:spPr>
          <a:xfrm flipH="1">
            <a:off x="1498600" y="2939650"/>
            <a:ext cx="2887500" cy="717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6"/>
          <p:cNvSpPr/>
          <p:nvPr/>
        </p:nvSpPr>
        <p:spPr>
          <a:xfrm>
            <a:off x="2607450" y="789150"/>
            <a:ext cx="2542200" cy="831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4" name="Google Shape;144;p16"/>
          <p:cNvCxnSpPr/>
          <p:nvPr/>
        </p:nvCxnSpPr>
        <p:spPr>
          <a:xfrm rot="10800000">
            <a:off x="4359788" y="1711100"/>
            <a:ext cx="1274400" cy="9360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16"/>
          <p:cNvSpPr txBox="1"/>
          <p:nvPr>
            <p:ph idx="12" type="sldNum"/>
          </p:nvPr>
        </p:nvSpPr>
        <p:spPr>
          <a:xfrm>
            <a:off x="8535491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7704150" y="3739400"/>
            <a:ext cx="1258500" cy="553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lfa Slab One"/>
                <a:ea typeface="Alfa Slab One"/>
                <a:cs typeface="Alfa Slab One"/>
                <a:sym typeface="Alfa Slab One"/>
              </a:rPr>
              <a:t>Economic losses/risks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1467541" y="826225"/>
            <a:ext cx="3210900" cy="28845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2428464" y="-99575"/>
            <a:ext cx="9983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Methodology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1411" r="1275" t="5428"/>
          <a:stretch/>
        </p:blipFill>
        <p:spPr>
          <a:xfrm>
            <a:off x="1597595" y="1066770"/>
            <a:ext cx="2922900" cy="1374807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890" y="2087263"/>
            <a:ext cx="2845799" cy="2839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17"/>
          <p:cNvCxnSpPr/>
          <p:nvPr/>
        </p:nvCxnSpPr>
        <p:spPr>
          <a:xfrm rot="-455029">
            <a:off x="5558783" y="936645"/>
            <a:ext cx="1468445" cy="867067"/>
          </a:xfrm>
          <a:prstGeom prst="curvedConnector3">
            <a:avLst>
              <a:gd fmla="val -4171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 rot="-454443">
            <a:off x="5571016" y="939148"/>
            <a:ext cx="1433910" cy="864053"/>
          </a:xfrm>
          <a:prstGeom prst="curvedConnector3">
            <a:avLst>
              <a:gd fmla="val 15511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7"/>
          <p:cNvSpPr txBox="1"/>
          <p:nvPr/>
        </p:nvSpPr>
        <p:spPr>
          <a:xfrm>
            <a:off x="1633062" y="2455010"/>
            <a:ext cx="29229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spatially explicit forest </a:t>
            </a:r>
            <a:r>
              <a:rPr b="1" lang="en-GB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and</a:t>
            </a:r>
            <a:r>
              <a:rPr b="1" lang="en-GB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physical risk model (IIASA)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-"/>
            </a:pPr>
            <a:r>
              <a:rPr lang="en-GB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Potentials 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-"/>
            </a:pPr>
            <a:r>
              <a:rPr lang="en-GB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Physical risk scenario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8" name="Google Shape;158;p17"/>
          <p:cNvCxnSpPr/>
          <p:nvPr/>
        </p:nvCxnSpPr>
        <p:spPr>
          <a:xfrm rot="-454669">
            <a:off x="6105715" y="959747"/>
            <a:ext cx="202468" cy="1693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7"/>
          <p:cNvCxnSpPr/>
          <p:nvPr/>
        </p:nvCxnSpPr>
        <p:spPr>
          <a:xfrm rot="10342437">
            <a:off x="6388868" y="1750159"/>
            <a:ext cx="144680" cy="178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7"/>
          <p:cNvSpPr txBox="1"/>
          <p:nvPr/>
        </p:nvSpPr>
        <p:spPr>
          <a:xfrm>
            <a:off x="5178784" y="981364"/>
            <a:ext cx="23523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Soft links, scenarios,</a:t>
            </a:r>
            <a:endParaRPr b="1" sz="2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parameters</a:t>
            </a:r>
            <a:endParaRPr b="1" sz="2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1" name="Google Shape;16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32925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EnergyScope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5592750" y="4963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sz="1200"/>
              <a:t>presented in Limpens et al. (2019)</a:t>
            </a:r>
            <a:endParaRPr i="1" sz="1200"/>
          </a:p>
        </p:txBody>
      </p:sp>
      <p:pic>
        <p:nvPicPr>
          <p:cNvPr id="168" name="Google Shape;168;p18" title="ste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925" y="846225"/>
            <a:ext cx="6841925" cy="41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96040" y="463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Typical days selection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 txBox="1"/>
          <p:nvPr>
            <p:ph idx="12" type="sldNum"/>
          </p:nvPr>
        </p:nvSpPr>
        <p:spPr>
          <a:xfrm>
            <a:off x="8434638" y="468843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4544"/>
          <a:stretch/>
        </p:blipFill>
        <p:spPr>
          <a:xfrm>
            <a:off x="-7425" y="116825"/>
            <a:ext cx="3897298" cy="49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330" y="116813"/>
            <a:ext cx="5490212" cy="490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96040" y="-76554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lfa Slab One"/>
                <a:ea typeface="Alfa Slab One"/>
                <a:cs typeface="Alfa Slab One"/>
                <a:sym typeface="Alfa Slab One"/>
              </a:rPr>
              <a:t>Typical days selection: RE supply cap.</a:t>
            </a:r>
            <a:endParaRPr sz="36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0" title="FI_2017_heatmaps_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88" y="660600"/>
            <a:ext cx="7783127" cy="43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96040" y="-186036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lfa Slab One"/>
                <a:ea typeface="Alfa Slab One"/>
                <a:cs typeface="Alfa Slab One"/>
                <a:sym typeface="Alfa Slab One"/>
              </a:rPr>
              <a:t>Typical days: an outlook</a:t>
            </a:r>
            <a:endParaRPr sz="36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978" y="587419"/>
            <a:ext cx="7222814" cy="438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title="typicalday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950" y="655234"/>
            <a:ext cx="7714872" cy="426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6197868" y="370284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sz="1200"/>
              <a:t>presented in Limpens et al. (2019)</a:t>
            </a:r>
            <a:endParaRPr i="1" sz="1200"/>
          </a:p>
        </p:txBody>
      </p:sp>
      <p:sp>
        <p:nvSpPr>
          <p:cNvPr id="196" name="Google Shape;1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111583" y="-266144"/>
            <a:ext cx="89853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80">
                <a:latin typeface="Alfa Slab One"/>
                <a:ea typeface="Alfa Slab One"/>
                <a:cs typeface="Alfa Slab One"/>
                <a:sym typeface="Alfa Slab One"/>
              </a:rPr>
              <a:t>Example of EnergyScope LP Problem representation </a:t>
            </a:r>
            <a:endParaRPr sz="228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202" name="Google Shape;202;p22" title="ex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195" y="537031"/>
            <a:ext cx="7187375" cy="4411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1" y="0"/>
            <a:ext cx="444211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42864" r="0" t="0"/>
          <a:stretch/>
        </p:blipFill>
        <p:spPr>
          <a:xfrm>
            <a:off x="4473427" y="2619605"/>
            <a:ext cx="4699450" cy="24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 rotWithShape="1">
          <a:blip r:embed="rId5">
            <a:alphaModFix/>
          </a:blip>
          <a:srcRect b="0" l="0" r="55770" t="0"/>
          <a:stretch/>
        </p:blipFill>
        <p:spPr>
          <a:xfrm>
            <a:off x="4473427" y="90205"/>
            <a:ext cx="3701475" cy="252941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111583" y="-266144"/>
            <a:ext cx="89853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80">
                <a:latin typeface="Alfa Slab One"/>
                <a:ea typeface="Alfa Slab One"/>
                <a:cs typeface="Alfa Slab One"/>
                <a:sym typeface="Alfa Slab One"/>
              </a:rPr>
              <a:t>Finish calibration 2017</a:t>
            </a:r>
            <a:r>
              <a:rPr lang="en-GB" sz="2480"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 sz="228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212" name="Google Shape;2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2300"/>
            <a:ext cx="9144003" cy="40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111583" y="-266144"/>
            <a:ext cx="89853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80">
                <a:latin typeface="Alfa Slab One"/>
                <a:ea typeface="Alfa Slab One"/>
                <a:cs typeface="Alfa Slab One"/>
                <a:sym typeface="Alfa Slab One"/>
              </a:rPr>
              <a:t>Validation 2017 - Finland - PE </a:t>
            </a:r>
            <a:endParaRPr sz="228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219" name="Google Shape;219;p24" title="pe_comparison.png"/>
          <p:cNvPicPr preferRelativeResize="0"/>
          <p:nvPr/>
        </p:nvPicPr>
        <p:blipFill rotWithShape="1">
          <a:blip r:embed="rId3">
            <a:alphaModFix/>
          </a:blip>
          <a:srcRect b="0" l="0" r="0" t="6183"/>
          <a:stretch/>
        </p:blipFill>
        <p:spPr>
          <a:xfrm>
            <a:off x="152400" y="747350"/>
            <a:ext cx="8547102" cy="42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111583" y="-266144"/>
            <a:ext cx="89853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80">
                <a:latin typeface="Alfa Slab One"/>
                <a:ea typeface="Alfa Slab One"/>
                <a:cs typeface="Alfa Slab One"/>
                <a:sym typeface="Alfa Slab One"/>
              </a:rPr>
              <a:t>Validation 2017 - Finland - EM </a:t>
            </a:r>
            <a:endParaRPr sz="228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226" name="Google Shape;226;p25" title="elec_comparison.png"/>
          <p:cNvPicPr preferRelativeResize="0"/>
          <p:nvPr/>
        </p:nvPicPr>
        <p:blipFill rotWithShape="1">
          <a:blip r:embed="rId3">
            <a:alphaModFix/>
          </a:blip>
          <a:srcRect b="0" l="0" r="0" t="5803"/>
          <a:stretch/>
        </p:blipFill>
        <p:spPr>
          <a:xfrm>
            <a:off x="217150" y="943750"/>
            <a:ext cx="8547102" cy="402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type="title"/>
          </p:nvPr>
        </p:nvSpPr>
        <p:spPr>
          <a:xfrm>
            <a:off x="111583" y="-266144"/>
            <a:ext cx="89853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80">
                <a:latin typeface="Alfa Slab One"/>
                <a:ea typeface="Alfa Slab One"/>
                <a:cs typeface="Alfa Slab One"/>
                <a:sym typeface="Alfa Slab One"/>
              </a:rPr>
              <a:t>Validation 2017 - Finland - EM </a:t>
            </a:r>
            <a:endParaRPr sz="228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233" name="Google Shape;233;p26" title="co2_comparison.png"/>
          <p:cNvPicPr preferRelativeResize="0"/>
          <p:nvPr/>
        </p:nvPicPr>
        <p:blipFill rotWithShape="1">
          <a:blip r:embed="rId3">
            <a:alphaModFix/>
          </a:blip>
          <a:srcRect b="0" l="0" r="0" t="6985"/>
          <a:stretch/>
        </p:blipFill>
        <p:spPr>
          <a:xfrm>
            <a:off x="1734342" y="848325"/>
            <a:ext cx="6109076" cy="4058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111583" y="-266144"/>
            <a:ext cx="89853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80">
                <a:latin typeface="Alfa Slab One"/>
                <a:ea typeface="Alfa Slab One"/>
                <a:cs typeface="Alfa Slab One"/>
                <a:sym typeface="Alfa Slab One"/>
              </a:rPr>
              <a:t>2035 - Finland - Primary Energy mix Exploration</a:t>
            </a:r>
            <a:endParaRPr sz="228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/>
          </a:blip>
          <a:srcRect b="0" l="0" r="0" t="6560"/>
          <a:stretch/>
        </p:blipFill>
        <p:spPr>
          <a:xfrm>
            <a:off x="169281" y="565150"/>
            <a:ext cx="8851133" cy="440977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1" y="0"/>
            <a:ext cx="908094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8"/>
          <p:cNvSpPr/>
          <p:nvPr/>
        </p:nvSpPr>
        <p:spPr>
          <a:xfrm>
            <a:off x="168725" y="1055900"/>
            <a:ext cx="1604100" cy="685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type="title"/>
          </p:nvPr>
        </p:nvSpPr>
        <p:spPr>
          <a:xfrm>
            <a:off x="73228" y="-61739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80"/>
              <a:t>Forest supply curve under different management scenario</a:t>
            </a:r>
            <a:endParaRPr sz="3380"/>
          </a:p>
        </p:txBody>
      </p:sp>
      <p:sp>
        <p:nvSpPr>
          <p:cNvPr id="256" name="Google Shape;256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8" name="Google Shape;258;p29" title="biomass_supply_curves_fi_2035.png"/>
          <p:cNvPicPr preferRelativeResize="0"/>
          <p:nvPr/>
        </p:nvPicPr>
        <p:blipFill rotWithShape="1">
          <a:blip r:embed="rId3">
            <a:alphaModFix/>
          </a:blip>
          <a:srcRect b="0" l="0" r="0" t="6951"/>
          <a:stretch/>
        </p:blipFill>
        <p:spPr>
          <a:xfrm>
            <a:off x="0" y="776654"/>
            <a:ext cx="9144002" cy="432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4" y="867874"/>
            <a:ext cx="9144001" cy="346728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6" name="Google Shape;266;p30"/>
          <p:cNvSpPr txBox="1"/>
          <p:nvPr>
            <p:ph type="title"/>
          </p:nvPr>
        </p:nvSpPr>
        <p:spPr>
          <a:xfrm>
            <a:off x="73228" y="-61739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80"/>
              <a:t>Forest supply curve under different management scenario</a:t>
            </a:r>
            <a:endParaRPr sz="338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3" name="Google Shape;2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0346"/>
            <a:ext cx="9143999" cy="256280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1"/>
          <p:cNvSpPr txBox="1"/>
          <p:nvPr>
            <p:ph type="title"/>
          </p:nvPr>
        </p:nvSpPr>
        <p:spPr>
          <a:xfrm>
            <a:off x="132753" y="131736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80"/>
              <a:t>Forest supply curve under different management scenario</a:t>
            </a:r>
            <a:endParaRPr sz="338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type="title"/>
          </p:nvPr>
        </p:nvSpPr>
        <p:spPr>
          <a:xfrm>
            <a:off x="400650" y="559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 different emission reduction target scenarios</a:t>
            </a:r>
            <a:endParaRPr/>
          </a:p>
        </p:txBody>
      </p:sp>
      <p:sp>
        <p:nvSpPr>
          <p:cNvPr id="280" name="Google Shape;280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683275" y="1277600"/>
            <a:ext cx="2757000" cy="13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UNCONSTRAINED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82" name="Google Shape;282;p32"/>
          <p:cNvSpPr/>
          <p:nvPr/>
        </p:nvSpPr>
        <p:spPr>
          <a:xfrm>
            <a:off x="5549325" y="1277600"/>
            <a:ext cx="2757000" cy="13191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MINUS 95 % CO2 emission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83" name="Google Shape;283;p32"/>
          <p:cNvSpPr/>
          <p:nvPr/>
        </p:nvSpPr>
        <p:spPr>
          <a:xfrm>
            <a:off x="2944700" y="3090150"/>
            <a:ext cx="3163800" cy="13191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MINUS 95 % CO2 emission  +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fa Slab One"/>
                <a:ea typeface="Alfa Slab One"/>
                <a:cs typeface="Alfa Slab One"/>
                <a:sym typeface="Alfa Slab One"/>
              </a:rPr>
              <a:t>NUCLEAR PHASE OUT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84" name="Google Shape;28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 txBox="1"/>
          <p:nvPr>
            <p:ph idx="12" type="sldNum"/>
          </p:nvPr>
        </p:nvSpPr>
        <p:spPr>
          <a:xfrm>
            <a:off x="8472458" y="476407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2" name="Google Shape;292;p33" title="forest_scenarios_2035_energy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3728"/>
            <a:ext cx="9144003" cy="4942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/>
          <p:nvPr>
            <p:ph type="title"/>
          </p:nvPr>
        </p:nvSpPr>
        <p:spPr>
          <a:xfrm>
            <a:off x="311700" y="81463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Biomass allocation 2035 </a:t>
            </a:r>
            <a:endParaRPr/>
          </a:p>
        </p:txBody>
      </p:sp>
      <p:sp>
        <p:nvSpPr>
          <p:cNvPr id="298" name="Google Shape;298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00" name="Google Shape;300;p34" title="forest_scenarios_2035_biomass_alloc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9895"/>
            <a:ext cx="9144003" cy="4076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/>
        </p:nvSpPr>
        <p:spPr>
          <a:xfrm>
            <a:off x="3622393" y="715321"/>
            <a:ext cx="23523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Soft links, scenarios,</a:t>
            </a:r>
            <a:endParaRPr b="1" sz="20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parameters</a:t>
            </a:r>
            <a:endParaRPr b="1" sz="20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6" name="Google Shape;306;p35"/>
          <p:cNvSpPr txBox="1"/>
          <p:nvPr>
            <p:ph type="title"/>
          </p:nvPr>
        </p:nvSpPr>
        <p:spPr>
          <a:xfrm>
            <a:off x="311700" y="3604657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Steps </a:t>
            </a:r>
            <a:endParaRPr/>
          </a:p>
        </p:txBody>
      </p:sp>
      <p:sp>
        <p:nvSpPr>
          <p:cNvPr id="307" name="Google Shape;307;p35"/>
          <p:cNvSpPr txBox="1"/>
          <p:nvPr>
            <p:ph idx="1" type="body"/>
          </p:nvPr>
        </p:nvSpPr>
        <p:spPr>
          <a:xfrm>
            <a:off x="311700" y="962182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666666"/>
              </a:solidFill>
            </a:endParaRPr>
          </a:p>
        </p:txBody>
      </p:sp>
      <p:sp>
        <p:nvSpPr>
          <p:cNvPr id="308" name="Google Shape;30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9" name="Google Shape;309;p35"/>
          <p:cNvSpPr/>
          <p:nvPr/>
        </p:nvSpPr>
        <p:spPr>
          <a:xfrm>
            <a:off x="6380350" y="273582"/>
            <a:ext cx="2700900" cy="437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35"/>
          <p:cNvSpPr/>
          <p:nvPr/>
        </p:nvSpPr>
        <p:spPr>
          <a:xfrm>
            <a:off x="86650" y="465682"/>
            <a:ext cx="3210900" cy="28845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1" name="Google Shape;311;p35"/>
          <p:cNvPicPr preferRelativeResize="0"/>
          <p:nvPr/>
        </p:nvPicPr>
        <p:blipFill rotWithShape="1">
          <a:blip r:embed="rId3">
            <a:alphaModFix/>
          </a:blip>
          <a:srcRect b="0" l="2745" r="2270" t="0"/>
          <a:stretch/>
        </p:blipFill>
        <p:spPr>
          <a:xfrm>
            <a:off x="6487416" y="1702275"/>
            <a:ext cx="2479178" cy="2724651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2" name="Google Shape;312;p35"/>
          <p:cNvPicPr preferRelativeResize="0"/>
          <p:nvPr/>
        </p:nvPicPr>
        <p:blipFill rotWithShape="1">
          <a:blip r:embed="rId4">
            <a:alphaModFix/>
          </a:blip>
          <a:srcRect b="0" l="1411" r="1275" t="5428"/>
          <a:stretch/>
        </p:blipFill>
        <p:spPr>
          <a:xfrm>
            <a:off x="216704" y="706227"/>
            <a:ext cx="2922900" cy="1374807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3499" y="1821220"/>
            <a:ext cx="2845799" cy="2839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5"/>
          <p:cNvCxnSpPr/>
          <p:nvPr/>
        </p:nvCxnSpPr>
        <p:spPr>
          <a:xfrm rot="-455029">
            <a:off x="4002392" y="670602"/>
            <a:ext cx="1468445" cy="867067"/>
          </a:xfrm>
          <a:prstGeom prst="curvedConnector3">
            <a:avLst>
              <a:gd fmla="val -41714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5"/>
          <p:cNvCxnSpPr/>
          <p:nvPr/>
        </p:nvCxnSpPr>
        <p:spPr>
          <a:xfrm rot="-454443">
            <a:off x="4014625" y="673104"/>
            <a:ext cx="1433910" cy="864053"/>
          </a:xfrm>
          <a:prstGeom prst="curvedConnector3">
            <a:avLst>
              <a:gd fmla="val 155115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35"/>
          <p:cNvSpPr txBox="1"/>
          <p:nvPr/>
        </p:nvSpPr>
        <p:spPr>
          <a:xfrm>
            <a:off x="252171" y="2094467"/>
            <a:ext cx="29229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G4M + FLAM(spatially explicit forest economic physical risk model)</a:t>
            </a:r>
            <a:endParaRPr b="1" sz="18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-"/>
            </a:pPr>
            <a:r>
              <a:rPr lang="en-GB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Potentials </a:t>
            </a:r>
            <a:endParaRPr sz="18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-"/>
            </a:pPr>
            <a:r>
              <a:rPr lang="en-GB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Physical risk scenario</a:t>
            </a:r>
            <a:endParaRPr sz="18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6297472" y="288709"/>
            <a:ext cx="2845800" cy="1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EUROGREEN - Finland</a:t>
            </a:r>
            <a:endParaRPr b="1" sz="17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Economica"/>
              <a:buChar char="-"/>
            </a:pPr>
            <a:r>
              <a:rPr lang="en-GB" sz="17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IO, endogenous innovation</a:t>
            </a:r>
            <a:endParaRPr sz="17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Economica"/>
              <a:buChar char="-"/>
            </a:pPr>
            <a:r>
              <a:rPr lang="en-GB" sz="17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Endogenous demand social classes</a:t>
            </a:r>
            <a:endParaRPr sz="17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Economica"/>
              <a:buChar char="-"/>
            </a:pPr>
            <a:r>
              <a:rPr lang="en-GB" sz="17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Macro and Inequality indicators</a:t>
            </a:r>
            <a:endParaRPr sz="17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18" name="Google Shape;318;p35"/>
          <p:cNvCxnSpPr/>
          <p:nvPr/>
        </p:nvCxnSpPr>
        <p:spPr>
          <a:xfrm rot="-454669">
            <a:off x="4667906" y="693704"/>
            <a:ext cx="202468" cy="1693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5"/>
          <p:cNvCxnSpPr/>
          <p:nvPr/>
        </p:nvCxnSpPr>
        <p:spPr>
          <a:xfrm rot="10342437">
            <a:off x="4832477" y="1484116"/>
            <a:ext cx="144680" cy="1786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
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0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936" y="8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45720"/>
          </a:xfrm>
          <a:prstGeom prst="rect">
            <a:avLst/>
          </a:prstGeom>
          <a:solidFill>
            <a:srgbClr val="50B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Arial"/>
              </a:rPr>
              <a:t>From Bioeconomy Promise to Biodiversity Ceiling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D6ECDE"/>
                </a:solidFill>
                <a:latin typeface="Arial"/>
              </a:rPr>
              <a:t>The role of forest biomass in Finnish decarbonisation —</a:t>
            </a:r>
          </a:p>
          <a:p>
            <a:r>
              <a:rPr sz="2000" b="0" i="1">
                <a:solidFill>
                  <a:srgbClr val="D6ECDE"/>
                </a:solidFill>
                <a:latin typeface="Arial"/>
              </a:rPr>
              <a:t>and the next phase: coupling G4M, disturbances and the forest carbon sink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Arial"/>
              </a:rPr>
              <a:t>Matthieu Bordenave</a:t>
            </a:r>
          </a:p>
          <a:p>
            <a:r>
              <a:rPr sz="1300" b="0" i="0">
                <a:solidFill>
                  <a:srgbClr val="C9E8D6"/>
                </a:solidFill>
                <a:latin typeface="Arial"/>
              </a:rPr>
              <a:t>University of Pisa · IIASA · UCLouvain</a:t>
            </a:r>
          </a:p>
          <a:p>
            <a:pPr>
              <a:spcBef>
                <a:spcPts val="800"/>
              </a:spcBef>
            </a:pPr>
            <a:r>
              <a:rPr sz="1300" b="0" i="1">
                <a:solidFill>
                  <a:srgbClr val="C9E8D6"/>
                </a:solidFill>
                <a:latin typeface="Arial"/>
              </a:rPr>
              <a:t>Working meeting with IIASA — 9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0B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9E8D6"/>
                </a:solidFill>
                <a:latin typeface="Arial"/>
              </a:rPr>
              <a:t>ROADMAP</a:t>
            </a:r>
          </a:p>
          <a:p>
            <a:r>
              <a:rPr sz="2400" b="1" i="0">
                <a:solidFill>
                  <a:srgbClr val="FFFFFF"/>
                </a:solidFill>
                <a:latin typeface="Arial"/>
              </a:rPr>
              <a:t>What we will cover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0E5A3E"/>
                </a:solidFill>
                <a:latin typeface="Arial"/>
              </a:rPr>
              <a:t>—  </a:t>
            </a:r>
            <a:r>
              <a:rPr sz="1500" b="1" i="0">
                <a:solidFill>
                  <a:srgbClr val="1F2D2D"/>
                </a:solidFill>
                <a:latin typeface="Arial"/>
              </a:rPr>
              <a:t>1. Context &amp; motivation</a:t>
            </a:r>
            <a:r>
              <a:rPr sz="1500" b="0" i="0">
                <a:solidFill>
                  <a:srgbClr val="5A6363"/>
                </a:solidFill>
                <a:latin typeface="Arial"/>
              </a:rPr>
              <a:t>  —  forest biomass as Finland's main domestic decarbonisation lever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E5A3E"/>
                </a:solidFill>
                <a:latin typeface="Arial"/>
              </a:rPr>
              <a:t>—  </a:t>
            </a:r>
            <a:r>
              <a:rPr sz="1500" b="1" i="0">
                <a:solidFill>
                  <a:srgbClr val="1F2D2D"/>
                </a:solidFill>
                <a:latin typeface="Arial"/>
              </a:rPr>
              <a:t>2. Paper 1 (near-complete)</a:t>
            </a:r>
            <a:r>
              <a:rPr sz="1500" b="0" i="0">
                <a:solidFill>
                  <a:srgbClr val="5A6363"/>
                </a:solidFill>
                <a:latin typeface="Arial"/>
              </a:rPr>
              <a:t>  —  method, stepwise wood supply curves, 3×3 scenario matrix, headline results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E5A3E"/>
                </a:solidFill>
                <a:latin typeface="Arial"/>
              </a:rPr>
              <a:t>—  </a:t>
            </a:r>
            <a:r>
              <a:rPr sz="1500" b="1" i="0">
                <a:solidFill>
                  <a:srgbClr val="1F2D2D"/>
                </a:solidFill>
                <a:latin typeface="Arial"/>
              </a:rPr>
              <a:t>3. Two methodological gaps</a:t>
            </a:r>
            <a:r>
              <a:rPr sz="1500" b="0" i="0">
                <a:solidFill>
                  <a:srgbClr val="5A6363"/>
                </a:solidFill>
                <a:latin typeface="Arial"/>
              </a:rPr>
              <a:t>  —  static curves · no forest carbon sink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E5A3E"/>
                </a:solidFill>
                <a:latin typeface="Arial"/>
              </a:rPr>
              <a:t>—  </a:t>
            </a:r>
            <a:r>
              <a:rPr sz="1500" b="1" i="0">
                <a:solidFill>
                  <a:srgbClr val="1F2D2D"/>
                </a:solidFill>
                <a:latin typeface="Arial"/>
              </a:rPr>
              <a:t>4. Research questions for the next phase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E5A3E"/>
                </a:solidFill>
                <a:latin typeface="Arial"/>
              </a:rPr>
              <a:t>—  </a:t>
            </a:r>
            <a:r>
              <a:rPr sz="1500" b="1" i="0">
                <a:solidFill>
                  <a:srgbClr val="1F2D2D"/>
                </a:solidFill>
                <a:latin typeface="Arial"/>
              </a:rPr>
              <a:t>5. Proposal to IIASA</a:t>
            </a:r>
            <a:r>
              <a:rPr sz="1500" b="0" i="0">
                <a:solidFill>
                  <a:srgbClr val="5A6363"/>
                </a:solidFill>
                <a:latin typeface="Arial"/>
              </a:rPr>
              <a:t>  —  G4M supply curves · disturbance shocks · sink coupling · European/BeWhere extension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E5A3E"/>
                </a:solidFill>
                <a:latin typeface="Arial"/>
              </a:rPr>
              <a:t>—  </a:t>
            </a:r>
            <a:r>
              <a:rPr sz="1500" b="1" i="0">
                <a:solidFill>
                  <a:srgbClr val="1F2D2D"/>
                </a:solidFill>
                <a:latin typeface="Arial"/>
              </a:rPr>
              <a:t>6. The IIASA model landscape</a:t>
            </a:r>
            <a:r>
              <a:rPr sz="1500" b="0" i="0">
                <a:solidFill>
                  <a:srgbClr val="5A6363"/>
                </a:solidFill>
                <a:latin typeface="Arial"/>
              </a:rPr>
              <a:t>  —  G4M, PICUS/PREBAS, FLAM, BeWhere, ForestNavigator D3.4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E5A3E"/>
                </a:solidFill>
                <a:latin typeface="Arial"/>
              </a:rPr>
              <a:t>—  </a:t>
            </a:r>
            <a:r>
              <a:rPr sz="1500" b="1" i="0">
                <a:solidFill>
                  <a:srgbClr val="1F2D2D"/>
                </a:solidFill>
                <a:latin typeface="Arial"/>
              </a:rPr>
              <a:t>7. Path forward &amp; open questions</a:t>
            </a:r>
            <a:r>
              <a:rPr sz="1500" b="0" i="0">
                <a:solidFill>
                  <a:srgbClr val="5A6363"/>
                </a:solidFill>
                <a:latin typeface="Arial"/>
              </a:rPr>
              <a:t>  —  what we need from the G4M / ForestNavigator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28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5A6363"/>
                </a:solidFill>
                <a:latin typeface="Arial"/>
              </a:rPr>
              <a:t>M. Bordenave · Forest–Energy coupling for Finland · IIASA meeting, 9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282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6363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0B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9E8D6"/>
                </a:solidFill>
                <a:latin typeface="Arial"/>
              </a:rPr>
              <a:t>CONTEXT &amp; MOTIVATION</a:t>
            </a:r>
          </a:p>
          <a:p>
            <a:r>
              <a:rPr sz="2400" b="1" i="0">
                <a:solidFill>
                  <a:srgbClr val="FFFFFF"/>
                </a:solidFill>
                <a:latin typeface="Arial"/>
              </a:rPr>
              <a:t>Why forest biomass, why supply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 i="0">
                <a:solidFill>
                  <a:srgbClr val="0E5A3E"/>
                </a:solidFill>
                <a:latin typeface="Arial"/>
              </a:rPr>
              <a:t>—  </a:t>
            </a:r>
            <a:r>
              <a:rPr sz="1500" b="1" i="0">
                <a:solidFill>
                  <a:srgbClr val="1F2D2D"/>
                </a:solidFill>
                <a:latin typeface="Arial"/>
              </a:rPr>
              <a:t>Forest biomass supplies ~25% of Finland's primary energy</a:t>
            </a:r>
            <a:r>
              <a:rPr sz="1500" b="0" i="0">
                <a:solidFill>
                  <a:srgbClr val="5A6363"/>
                </a:solidFill>
                <a:latin typeface="Arial"/>
              </a:rPr>
              <a:t>  — the main domestic lever for deep decarbonisation.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0E5A3E"/>
                </a:solidFill>
                <a:latin typeface="Arial"/>
              </a:rPr>
              <a:t>—  </a:t>
            </a:r>
            <a:r>
              <a:rPr sz="1500" b="0" i="0">
                <a:solidFill>
                  <a:srgbClr val="1F2D2D"/>
                </a:solidFill>
                <a:latin typeface="Arial"/>
              </a:rPr>
              <a:t>But availability is </a:t>
            </a:r>
            <a:r>
              <a:rPr sz="1500" b="1" i="0">
                <a:solidFill>
                  <a:srgbClr val="1F2D2D"/>
                </a:solidFill>
                <a:latin typeface="Arial"/>
              </a:rPr>
              <a:t>not a single fixed number</a:t>
            </a:r>
            <a:r>
              <a:rPr sz="1500" b="0" i="0">
                <a:solidFill>
                  <a:srgbClr val="1F2D2D"/>
                </a:solidFill>
                <a:latin typeface="Arial"/>
              </a:rPr>
              <a:t>: it depends on forest management, competing industrial uses (pulp, paper, sawnwood), ecological limits, and — increasingly — natural disturbances.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0E5A3E"/>
                </a:solidFill>
                <a:latin typeface="Arial"/>
              </a:rPr>
              <a:t>—  </a:t>
            </a:r>
            <a:r>
              <a:rPr sz="1500" b="1" i="0">
                <a:solidFill>
                  <a:srgbClr val="1F2D2D"/>
                </a:solidFill>
                <a:latin typeface="Arial"/>
              </a:rPr>
              <a:t>Colla et al. (2022)</a:t>
            </a:r>
            <a:r>
              <a:rPr sz="1500" b="0" i="0">
                <a:solidFill>
                  <a:srgbClr val="1F2D2D"/>
                </a:solidFill>
                <a:latin typeface="Arial"/>
              </a:rPr>
              <a:t> showed for Belgium that representing wood as a </a:t>
            </a:r>
            <a:r>
              <a:rPr sz="1500" b="1" i="0">
                <a:solidFill>
                  <a:srgbClr val="1F2D2D"/>
                </a:solidFill>
                <a:latin typeface="Arial"/>
              </a:rPr>
              <a:t>multi-step marginal-cost supply curve</a:t>
            </a:r>
            <a:r>
              <a:rPr sz="1500" b="0" i="0">
                <a:solidFill>
                  <a:srgbClr val="1F2D2D"/>
                </a:solidFill>
                <a:latin typeface="Arial"/>
              </a:rPr>
              <a:t> materially changes its optimal allocation under deep decarbonisation.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0E5A3E"/>
                </a:solidFill>
                <a:latin typeface="Arial"/>
              </a:rPr>
              <a:t>—  </a:t>
            </a:r>
            <a:r>
              <a:rPr sz="1500" b="1" i="0">
                <a:solidFill>
                  <a:srgbClr val="1F2D2D"/>
                </a:solidFill>
                <a:latin typeface="Arial"/>
              </a:rPr>
              <a:t>Paper 1 applies and extends this to Finland</a:t>
            </a:r>
            <a:r>
              <a:rPr sz="1500" b="0" i="0">
                <a:solidFill>
                  <a:srgbClr val="1F2D2D"/>
                </a:solidFill>
                <a:latin typeface="Arial"/>
              </a:rPr>
              <a:t> — a structurally richer, more policy-contested case (bioeconomy vs biodiversity vs climate).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0E5A3E"/>
                </a:solidFill>
                <a:latin typeface="Arial"/>
              </a:rPr>
              <a:t>—  Next step:</a:t>
            </a:r>
            <a:r>
              <a:rPr sz="1500" b="0" i="0">
                <a:solidFill>
                  <a:srgbClr val="1F2D2D"/>
                </a:solidFill>
                <a:latin typeface="Arial"/>
              </a:rPr>
              <a:t> make the curves </a:t>
            </a:r>
            <a:r>
              <a:rPr sz="1500" b="1" i="0">
                <a:solidFill>
                  <a:srgbClr val="1F2D2D"/>
                </a:solidFill>
                <a:latin typeface="Arial"/>
              </a:rPr>
              <a:t>endogenous to forest dynamics</a:t>
            </a:r>
            <a:r>
              <a:rPr sz="1500" b="0" i="0">
                <a:solidFill>
                  <a:srgbClr val="1F2D2D"/>
                </a:solidFill>
                <a:latin typeface="Arial"/>
              </a:rPr>
              <a:t>, so management intensity and disturbance shocks propagate into the energy system through both wood availability and the forest carbon balance.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28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5A6363"/>
                </a:solidFill>
                <a:latin typeface="Arial"/>
              </a:rPr>
              <a:t>M. Bordenave · Forest–Energy coupling for Finland · IIASA meeting, 9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282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6363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0B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9E8D6"/>
                </a:solidFill>
                <a:latin typeface="Arial"/>
              </a:rPr>
              <a:t>THE TOOL</a:t>
            </a:r>
          </a:p>
          <a:p>
            <a:r>
              <a:rPr sz="2400" b="1" i="0">
                <a:solidFill>
                  <a:srgbClr val="FFFFFF"/>
                </a:solidFill>
                <a:latin typeface="Arial"/>
              </a:rPr>
              <a:t>EnergyScope — whole-energy-system optimisation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317294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 i="0" dirty="0">
                <a:solidFill>
                  <a:srgbClr val="0E5A3E"/>
                </a:solidFill>
                <a:latin typeface="Arial"/>
              </a:rPr>
              <a:t>—  </a:t>
            </a:r>
            <a:r>
              <a:rPr sz="1500" b="1" i="0" dirty="0" err="1">
                <a:solidFill>
                  <a:srgbClr val="1F2D2D"/>
                </a:solidFill>
                <a:latin typeface="Arial"/>
              </a:rPr>
              <a:t>EnergyScope</a:t>
            </a:r>
            <a:r>
              <a:rPr sz="1500" b="1" i="0" dirty="0">
                <a:solidFill>
                  <a:srgbClr val="1F2D2D"/>
                </a:solidFill>
                <a:latin typeface="Arial"/>
              </a:rPr>
              <a:t> TD</a:t>
            </a:r>
            <a:r>
              <a:rPr sz="1500" b="0" i="0" dirty="0">
                <a:solidFill>
                  <a:srgbClr val="1F2D2D"/>
                </a:solidFill>
                <a:latin typeface="Arial"/>
              </a:rPr>
              <a:t> (Limpens et al. 2019): open-source LP that co-</a:t>
            </a:r>
            <a:r>
              <a:rPr sz="1500" b="0" i="0" dirty="0" err="1">
                <a:solidFill>
                  <a:srgbClr val="1F2D2D"/>
                </a:solidFill>
                <a:latin typeface="Arial"/>
              </a:rPr>
              <a:t>optimises</a:t>
            </a:r>
            <a:r>
              <a:rPr sz="1500" b="0" i="0" dirty="0">
                <a:solidFill>
                  <a:srgbClr val="1F2D2D"/>
                </a:solidFill>
                <a:latin typeface="Arial"/>
              </a:rPr>
              <a:t> investment and hourly operation of the whole energy system — electricity, heat, mobility, non-energy demand — to </a:t>
            </a:r>
            <a:r>
              <a:rPr sz="1500" b="0" i="0" dirty="0" err="1">
                <a:solidFill>
                  <a:srgbClr val="1F2D2D"/>
                </a:solidFill>
                <a:latin typeface="Arial"/>
              </a:rPr>
              <a:t>minimise</a:t>
            </a:r>
            <a:r>
              <a:rPr sz="1500" b="0" i="0" dirty="0">
                <a:solidFill>
                  <a:srgbClr val="1F2D2D"/>
                </a:solidFill>
                <a:latin typeface="Arial"/>
              </a:rPr>
              <a:t> total annual cost under a GHG constraint.</a:t>
            </a:r>
          </a:p>
          <a:p>
            <a:pPr>
              <a:spcAft>
                <a:spcPts val="1200"/>
              </a:spcAft>
            </a:pPr>
            <a:r>
              <a:rPr sz="1500" b="1" i="0" dirty="0">
                <a:solidFill>
                  <a:srgbClr val="0E5A3E"/>
                </a:solidFill>
                <a:latin typeface="Arial"/>
              </a:rPr>
              <a:t>—  </a:t>
            </a:r>
            <a:r>
              <a:rPr sz="1500" b="1" i="0" dirty="0">
                <a:solidFill>
                  <a:srgbClr val="1F2D2D"/>
                </a:solidFill>
                <a:latin typeface="Arial"/>
              </a:rPr>
              <a:t>Typical-days representation</a:t>
            </a:r>
            <a:r>
              <a:rPr sz="1500" b="0" i="0" dirty="0">
                <a:solidFill>
                  <a:srgbClr val="1F2D2D"/>
                </a:solidFill>
                <a:latin typeface="Arial"/>
              </a:rPr>
              <a:t> keeps the hourly detail tractable (12 typical days here).</a:t>
            </a:r>
          </a:p>
          <a:p>
            <a:pPr>
              <a:spcAft>
                <a:spcPts val="1200"/>
              </a:spcAft>
            </a:pPr>
            <a:r>
              <a:rPr sz="1500" b="1" i="0" dirty="0">
                <a:solidFill>
                  <a:srgbClr val="0E5A3E"/>
                </a:solidFill>
                <a:latin typeface="Arial"/>
              </a:rPr>
              <a:t>—  </a:t>
            </a:r>
            <a:r>
              <a:rPr sz="1500" b="1" i="0" dirty="0">
                <a:solidFill>
                  <a:srgbClr val="1F2D2D"/>
                </a:solidFill>
                <a:latin typeface="Arial"/>
              </a:rPr>
              <a:t>Multi-cell version (ESMC)</a:t>
            </a:r>
            <a:r>
              <a:rPr sz="1500" b="0" i="0" dirty="0">
                <a:solidFill>
                  <a:srgbClr val="1F2D2D"/>
                </a:solidFill>
                <a:latin typeface="Arial"/>
              </a:rPr>
              <a:t> places Finland inside a pan-European grid; this study is the Finnish national deep-dive.</a:t>
            </a:r>
          </a:p>
          <a:p>
            <a:pPr>
              <a:spcAft>
                <a:spcPts val="1200"/>
              </a:spcAft>
            </a:pPr>
            <a:r>
              <a:rPr sz="1500" b="1" i="0" dirty="0">
                <a:solidFill>
                  <a:srgbClr val="0E5A3E"/>
                </a:solidFill>
                <a:latin typeface="Arial"/>
              </a:rPr>
              <a:t>—  </a:t>
            </a:r>
            <a:r>
              <a:rPr sz="1500" b="1" i="0" dirty="0">
                <a:solidFill>
                  <a:srgbClr val="1F2D2D"/>
                </a:solidFill>
                <a:latin typeface="Arial"/>
              </a:rPr>
              <a:t>Biomass enters as resources with a yearly availability cap, a marginal cost and an embedded (supply-chain) GHG factor</a:t>
            </a:r>
            <a:r>
              <a:rPr sz="1500" b="0" i="0" dirty="0">
                <a:solidFill>
                  <a:srgbClr val="1F2D2D"/>
                </a:solidFill>
                <a:latin typeface="Arial"/>
              </a:rPr>
              <a:t> — exactly where the supply-curve representation lives.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860280"/>
            <a:ext cx="10972800" cy="960120"/>
          </a:xfrm>
          <a:prstGeom prst="rect">
            <a:avLst/>
          </a:prstGeom>
          <a:solidFill>
            <a:srgbClr val="E8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498348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E5A3E"/>
                </a:solidFill>
                <a:latin typeface="Arial"/>
              </a:rPr>
              <a:t>Binding climate constraint (today): </a:t>
            </a:r>
            <a:r>
              <a:rPr sz="1400" b="1" i="1">
                <a:solidFill>
                  <a:srgbClr val="1F2D2D"/>
                </a:solidFill>
                <a:latin typeface="Arial"/>
              </a:rPr>
              <a:t>Σ_r CO₂_net[r] ≤ gwp_limit</a:t>
            </a:r>
            <a:r>
              <a:rPr sz="1400" b="0" i="0">
                <a:solidFill>
                  <a:srgbClr val="1F2D2D"/>
                </a:solidFill>
                <a:latin typeface="Arial"/>
              </a:rPr>
              <a:t>   — energy-system combustion emissions only. Biomass combustion is carbon-neutral by assumption; there is no term for the forest sink.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28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5A6363"/>
                </a:solidFill>
                <a:latin typeface="Arial"/>
              </a:rPr>
              <a:t>M. Bordenave · Forest–Energy coupling for Finland · IIASA meeting, 9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282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6363"/>
                </a:solidFill>
                <a:latin typeface="Arial"/>
              </a:rPr>
              <a:t>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62D064-4B62-F8BC-7B9C-663FED5F4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8693" y="1331301"/>
            <a:ext cx="3287027" cy="32760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0B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9E8D6"/>
                </a:solidFill>
                <a:latin typeface="Arial"/>
              </a:rPr>
              <a:t>PAPER 1 — WHAT IS DONE</a:t>
            </a:r>
          </a:p>
          <a:p>
            <a:r>
              <a:rPr sz="2400" b="1" i="0">
                <a:solidFill>
                  <a:srgbClr val="FFFFFF"/>
                </a:solidFill>
                <a:latin typeface="Arial"/>
              </a:rPr>
              <a:t>Three building blocks, results are stylised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3611880" cy="566928"/>
          </a:xfrm>
          <a:prstGeom prst="rect">
            <a:avLst/>
          </a:prstGeom>
          <a:solidFill>
            <a:srgbClr val="7F8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4904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Arial"/>
              </a:rPr>
              <a:t>Calibrated 2017 baseline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84248"/>
            <a:ext cx="3611880" cy="3749039"/>
          </a:xfrm>
          <a:prstGeom prst="rect">
            <a:avLst/>
          </a:prstGeom>
          <a:solidFill>
            <a:srgbClr val="F3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2103120"/>
            <a:ext cx="335584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 i="0">
                <a:solidFill>
                  <a:srgbClr val="7F8C8D"/>
                </a:solidFill>
                <a:latin typeface="Arial"/>
              </a:rPr>
              <a:t>•  </a:t>
            </a:r>
            <a:r>
              <a:rPr sz="1250" b="0" i="0">
                <a:solidFill>
                  <a:srgbClr val="1F2D2D"/>
                </a:solidFill>
                <a:latin typeface="Arial"/>
              </a:rPr>
              <a:t>Reproduces the national energy balance to ~1.2% weighted error over 14 indicators</a:t>
            </a:r>
          </a:p>
          <a:p>
            <a:pPr>
              <a:spcAft>
                <a:spcPts val="800"/>
              </a:spcAft>
            </a:pPr>
            <a:r>
              <a:rPr sz="1250" b="1" i="0">
                <a:solidFill>
                  <a:srgbClr val="7F8C8D"/>
                </a:solidFill>
                <a:latin typeface="Arial"/>
              </a:rPr>
              <a:t>•  </a:t>
            </a:r>
            <a:r>
              <a:rPr sz="1250" b="0" i="0">
                <a:solidFill>
                  <a:srgbClr val="1F2D2D"/>
                </a:solidFill>
                <a:latin typeface="Arial"/>
              </a:rPr>
              <a:t>CO₂ within 0.1% (41.2 MtCO₂)</a:t>
            </a:r>
          </a:p>
          <a:p>
            <a:pPr>
              <a:spcAft>
                <a:spcPts val="800"/>
              </a:spcAft>
            </a:pPr>
            <a:r>
              <a:rPr sz="1250" b="1" i="0">
                <a:solidFill>
                  <a:srgbClr val="7F8C8D"/>
                </a:solidFill>
                <a:latin typeface="Arial"/>
              </a:rPr>
              <a:t>•  </a:t>
            </a:r>
            <a:r>
              <a:rPr sz="1250" b="0" i="0">
                <a:solidFill>
                  <a:srgbClr val="1F2D2D"/>
                </a:solidFill>
                <a:latin typeface="Arial"/>
              </a:rPr>
              <a:t>Residuals documented: district heat +43%, gas-CHP +37% (aggregation artefacts)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462272" y="1417320"/>
            <a:ext cx="3611880" cy="56692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4904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Arial"/>
              </a:rPr>
              <a:t>Stepwise wood supply curves (2035)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62272" y="1984248"/>
            <a:ext cx="3611880" cy="3749039"/>
          </a:xfrm>
          <a:prstGeom prst="rect">
            <a:avLst/>
          </a:prstGeom>
          <a:solidFill>
            <a:srgbClr val="F3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2103120"/>
            <a:ext cx="335584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 i="0">
                <a:solidFill>
                  <a:srgbClr val="27AE60"/>
                </a:solidFill>
                <a:latin typeface="Arial"/>
              </a:rPr>
              <a:t>•  </a:t>
            </a:r>
            <a:r>
              <a:rPr sz="1250" b="0" i="0">
                <a:solidFill>
                  <a:srgbClr val="1F2D2D"/>
                </a:solidFill>
                <a:latin typeface="Arial"/>
              </a:rPr>
              <a:t>Single WOOD resource → 4 domestic steps + import backstop</a:t>
            </a:r>
          </a:p>
          <a:p>
            <a:pPr>
              <a:spcAft>
                <a:spcPts val="800"/>
              </a:spcAft>
            </a:pPr>
            <a:r>
              <a:rPr sz="1250" b="1" i="0">
                <a:solidFill>
                  <a:srgbClr val="27AE60"/>
                </a:solidFill>
                <a:latin typeface="Arial"/>
              </a:rPr>
              <a:t>•  </a:t>
            </a:r>
            <a:r>
              <a:rPr sz="1250" b="0" i="0">
                <a:solidFill>
                  <a:srgbClr val="1F2D2D"/>
                </a:solidFill>
                <a:latin typeface="Arial"/>
              </a:rPr>
              <a:t>Dispatched in merit order (cheapest first)</a:t>
            </a:r>
          </a:p>
          <a:p>
            <a:pPr>
              <a:spcAft>
                <a:spcPts val="800"/>
              </a:spcAft>
            </a:pPr>
            <a:r>
              <a:rPr sz="1250" b="1" i="0">
                <a:solidFill>
                  <a:srgbClr val="27AE60"/>
                </a:solidFill>
                <a:latin typeface="Arial"/>
              </a:rPr>
              <a:t>•  </a:t>
            </a:r>
            <a:r>
              <a:rPr sz="1250" b="0" i="0">
                <a:solidFill>
                  <a:srgbClr val="1F2D2D"/>
                </a:solidFill>
                <a:latin typeface="Arial"/>
              </a:rPr>
              <a:t>Three forest-management scenarios S1 / S2 / S3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84463" y="1417320"/>
            <a:ext cx="3611880" cy="5669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94191" y="14904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Arial"/>
              </a:rPr>
              <a:t>3 × 3 scenario matrix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4463" y="1984248"/>
            <a:ext cx="3611880" cy="3749039"/>
          </a:xfrm>
          <a:prstGeom prst="rect">
            <a:avLst/>
          </a:prstGeom>
          <a:solidFill>
            <a:srgbClr val="F3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335584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 i="0">
                <a:solidFill>
                  <a:srgbClr val="C0392B"/>
                </a:solidFill>
                <a:latin typeface="Arial"/>
              </a:rPr>
              <a:t>•  </a:t>
            </a:r>
            <a:r>
              <a:rPr sz="1250" b="0" i="0">
                <a:solidFill>
                  <a:srgbClr val="1F2D2D"/>
                </a:solidFill>
                <a:latin typeface="Arial"/>
              </a:rPr>
              <a:t>{S1, S2, S3} × {unconstrained, −95% GHG, −95% no-nuclear}</a:t>
            </a:r>
          </a:p>
          <a:p>
            <a:pPr>
              <a:spcAft>
                <a:spcPts val="800"/>
              </a:spcAft>
            </a:pPr>
            <a:r>
              <a:rPr sz="1250" b="1" i="0">
                <a:solidFill>
                  <a:srgbClr val="C0392B"/>
                </a:solidFill>
                <a:latin typeface="Arial"/>
              </a:rPr>
              <a:t>•  </a:t>
            </a:r>
            <a:r>
              <a:rPr sz="1250" b="0" i="0">
                <a:solidFill>
                  <a:srgbClr val="1F2D2D"/>
                </a:solidFill>
                <a:latin typeface="Arial"/>
              </a:rPr>
              <a:t>9 canonical runs, reproducible (tag paper1-finland-forest-v1.0)</a:t>
            </a:r>
          </a:p>
          <a:p>
            <a:pPr>
              <a:spcAft>
                <a:spcPts val="800"/>
              </a:spcAft>
            </a:pPr>
            <a:r>
              <a:rPr sz="1250" b="1" i="0">
                <a:solidFill>
                  <a:srgbClr val="C0392B"/>
                </a:solidFill>
                <a:latin typeface="Arial"/>
              </a:rPr>
              <a:t>•  </a:t>
            </a:r>
            <a:r>
              <a:rPr sz="1250" b="0" i="0">
                <a:solidFill>
                  <a:srgbClr val="1F2D2D"/>
                </a:solidFill>
                <a:latin typeface="Arial"/>
              </a:rPr>
              <a:t>Headline findings → next slides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28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5A6363"/>
                </a:solidFill>
                <a:latin typeface="Arial"/>
              </a:rPr>
              <a:t>M. Bordenave · Forest–Energy coupling for Finland · IIASA meeting, 9 Oct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282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636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0B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9E8D6"/>
                </a:solidFill>
                <a:latin typeface="Arial"/>
              </a:rPr>
              <a:t>PAPER 1 — SUPPLY CURVES</a:t>
            </a:r>
          </a:p>
          <a:p>
            <a:r>
              <a:rPr sz="2400" b="1" i="0">
                <a:solidFill>
                  <a:srgbClr val="FFFFFF"/>
                </a:solidFill>
                <a:latin typeface="Arial"/>
              </a:rPr>
              <a:t>Stepwise Finnish wood supply, by management scenario</a:t>
            </a:r>
          </a:p>
        </p:txBody>
      </p:sp>
      <p:pic>
        <p:nvPicPr>
          <p:cNvPr id="5" name="Picture 4" descr="biomass_supply_curves_fi_2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018771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371600"/>
            <a:ext cx="4297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E5A3E"/>
                </a:solidFill>
                <a:latin typeface="Arial"/>
              </a:rPr>
              <a:t>Five merit-order steps  (€/MWh)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1F2D2D"/>
                </a:solidFill>
                <a:latin typeface="Arial"/>
              </a:rPr>
              <a:t>FI1  </a:t>
            </a:r>
            <a:r>
              <a:rPr sz="1150" b="0" i="0">
                <a:solidFill>
                  <a:srgbClr val="1F2D2D"/>
                </a:solidFill>
                <a:latin typeface="Arial"/>
              </a:rPr>
              <a:t>Industrial by-products — black liquor, bark, sawdust  </a:t>
            </a:r>
            <a:r>
              <a:rPr sz="1150" b="1" i="0">
                <a:solidFill>
                  <a:srgbClr val="5A6363"/>
                </a:solidFill>
                <a:latin typeface="Arial"/>
              </a:rPr>
              <a:t>— 11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1F2D2D"/>
                </a:solidFill>
                <a:latin typeface="Arial"/>
              </a:rPr>
              <a:t>FI2  </a:t>
            </a:r>
            <a:r>
              <a:rPr sz="1150" b="0" i="0">
                <a:solidFill>
                  <a:srgbClr val="1F2D2D"/>
                </a:solidFill>
                <a:latin typeface="Arial"/>
              </a:rPr>
              <a:t>Logging residues (branches, tops)  </a:t>
            </a:r>
            <a:r>
              <a:rPr sz="1150" b="1" i="0">
                <a:solidFill>
                  <a:srgbClr val="5A6363"/>
                </a:solidFill>
                <a:latin typeface="Arial"/>
              </a:rPr>
              <a:t>— 22 (26 S3)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1F2D2D"/>
                </a:solidFill>
                <a:latin typeface="Arial"/>
              </a:rPr>
              <a:t>FI3  </a:t>
            </a:r>
            <a:r>
              <a:rPr sz="1150" b="0" i="0">
                <a:solidFill>
                  <a:srgbClr val="1F2D2D"/>
                </a:solidFill>
                <a:latin typeface="Arial"/>
              </a:rPr>
              <a:t>Secondary woodchips / sawdust  </a:t>
            </a:r>
            <a:r>
              <a:rPr sz="1150" b="1" i="0">
                <a:solidFill>
                  <a:srgbClr val="5A6363"/>
                </a:solidFill>
                <a:latin typeface="Arial"/>
              </a:rPr>
              <a:t>— 27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1F2D2D"/>
                </a:solidFill>
                <a:latin typeface="Arial"/>
              </a:rPr>
              <a:t>FI4  </a:t>
            </a:r>
            <a:r>
              <a:rPr sz="1150" b="0" i="0">
                <a:solidFill>
                  <a:srgbClr val="1F2D2D"/>
                </a:solidFill>
                <a:latin typeface="Arial"/>
              </a:rPr>
              <a:t>Fuelwood + landscape-care wood  </a:t>
            </a:r>
            <a:r>
              <a:rPr sz="1150" b="1" i="0">
                <a:solidFill>
                  <a:srgbClr val="5A6363"/>
                </a:solidFill>
                <a:latin typeface="Arial"/>
              </a:rPr>
              <a:t>— 33</a:t>
            </a:r>
          </a:p>
          <a:p>
            <a:pPr>
              <a:spcAft>
                <a:spcPts val="500"/>
              </a:spcAft>
            </a:pPr>
            <a:r>
              <a:rPr sz="1200" b="1" i="0">
                <a:solidFill>
                  <a:srgbClr val="1F2D2D"/>
                </a:solidFill>
                <a:latin typeface="Arial"/>
              </a:rPr>
              <a:t>FI5  </a:t>
            </a:r>
            <a:r>
              <a:rPr sz="1150" b="0" i="0">
                <a:solidFill>
                  <a:srgbClr val="1F2D2D"/>
                </a:solidFill>
                <a:latin typeface="Arial"/>
              </a:rPr>
              <a:t>Import backstop (Baltic / Nordic)  </a:t>
            </a:r>
            <a:r>
              <a:rPr sz="1150" b="1" i="0">
                <a:solidFill>
                  <a:srgbClr val="5A6363"/>
                </a:solidFill>
                <a:latin typeface="Arial"/>
              </a:rPr>
              <a:t>— 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7492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F2D2D"/>
                </a:solidFill>
                <a:latin typeface="Arial"/>
              </a:rPr>
              <a:t>Domestic ceilings: </a:t>
            </a:r>
            <a:r>
              <a:rPr sz="1300" b="1" i="0">
                <a:solidFill>
                  <a:srgbClr val="C0392B"/>
                </a:solidFill>
                <a:latin typeface="Arial"/>
              </a:rPr>
              <a:t>S1-BES ~122 TWh</a:t>
            </a:r>
            <a:r>
              <a:rPr sz="1300" b="0" i="0">
                <a:solidFill>
                  <a:srgbClr val="1F2D2D"/>
                </a:solidFill>
                <a:latin typeface="Arial"/>
              </a:rPr>
              <a:t> · </a:t>
            </a:r>
            <a:r>
              <a:rPr sz="1300" b="1" i="0">
                <a:solidFill>
                  <a:srgbClr val="7F8C8D"/>
                </a:solidFill>
                <a:latin typeface="Arial"/>
              </a:rPr>
              <a:t>S2-NFS ~102 TWh</a:t>
            </a:r>
            <a:r>
              <a:rPr sz="1300" b="0" i="0">
                <a:solidFill>
                  <a:srgbClr val="1F2D2D"/>
                </a:solidFill>
                <a:latin typeface="Arial"/>
              </a:rPr>
              <a:t> · </a:t>
            </a:r>
            <a:r>
              <a:rPr sz="1300" b="1" i="0">
                <a:solidFill>
                  <a:srgbClr val="27AE60"/>
                </a:solidFill>
                <a:latin typeface="Arial"/>
              </a:rPr>
              <a:t>S3-BDS 40 TWh</a:t>
            </a:r>
            <a:r>
              <a:rPr sz="1300" b="0" i="1">
                <a:solidFill>
                  <a:srgbClr val="5A6363"/>
                </a:solidFill>
                <a:latin typeface="Arial"/>
              </a:rPr>
              <a:t>   (S1 +20% and S3 40 TWh are stylised/revised, not raw ENSPRESO).</a:t>
            </a:r>
          </a:p>
          <a:p>
            <a:pPr>
              <a:spcBef>
                <a:spcPts val="400"/>
              </a:spcBef>
            </a:pPr>
            <a:r>
              <a:rPr sz="1150" b="1" i="0">
                <a:solidFill>
                  <a:srgbClr val="B9770E"/>
                </a:solidFill>
                <a:latin typeface="Arial"/>
              </a:rPr>
              <a:t>Note: </a:t>
            </a:r>
            <a:r>
              <a:rPr sz="1150" b="0" i="1">
                <a:solidFill>
                  <a:srgbClr val="5A6363"/>
                </a:solidFill>
                <a:latin typeface="Arial"/>
              </a:rPr>
              <a:t>FI1 proxies Finland's captive by-product stream, dominated by black liquor (~43 TWh, 2017) — absent from ENSPRESO; flagged for IIASA.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28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5A6363"/>
                </a:solidFill>
                <a:latin typeface="Arial"/>
              </a:rPr>
              <a:t>M. Bordenave · Forest–Energy coupling for Finland · IIASA meeting, 9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282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6363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0B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9E8D6"/>
                </a:solidFill>
                <a:latin typeface="Arial"/>
              </a:rPr>
              <a:t>PAPER 1 — RESULTS</a:t>
            </a:r>
          </a:p>
          <a:p>
            <a:r>
              <a:rPr sz="2400" b="1" i="0">
                <a:solidFill>
                  <a:srgbClr val="FFFFFF"/>
                </a:solidFill>
                <a:latin typeface="Arial"/>
              </a:rPr>
              <a:t>The 2035 scenario × GHG matrix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69494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63500" marR="38100" marT="25400" marB="25400">
                    <a:solidFill>
                      <a:srgbClr val="1581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GHG case</a:t>
                      </a:r>
                    </a:p>
                  </a:txBody>
                  <a:tcPr marL="63500" marR="38100" marT="25400" marB="25400">
                    <a:solidFill>
                      <a:srgbClr val="1581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Cost
(bn€/y)</a:t>
                      </a:r>
                    </a:p>
                  </a:txBody>
                  <a:tcPr marL="63500" marR="38100" marT="25400" marB="25400">
                    <a:solidFill>
                      <a:srgbClr val="1581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CO₂
(Mt/y)</a:t>
                      </a:r>
                    </a:p>
                  </a:txBody>
                  <a:tcPr marL="63500" marR="38100" marT="25400" marB="25400">
                    <a:solidFill>
                      <a:srgbClr val="1581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Reduction
vs 2017</a:t>
                      </a:r>
                    </a:p>
                  </a:txBody>
                  <a:tcPr marL="63500" marR="38100" marT="25400" marB="25400">
                    <a:solidFill>
                      <a:srgbClr val="1581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Wood used
(TWh)</a:t>
                      </a:r>
                    </a:p>
                  </a:txBody>
                  <a:tcPr marL="63500" marR="38100" marT="25400" marB="25400">
                    <a:solidFill>
                      <a:srgbClr val="1581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S1 BES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Arial"/>
                        </a:rPr>
                        <a:t>Unconstrained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22.40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13.02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68%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54.5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S1 BES</a:t>
                      </a:r>
                    </a:p>
                  </a:txBody>
                  <a:tcPr marL="63500" marR="38100" marT="25400" marB="25400"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Arial"/>
                        </a:rPr>
                        <a:t>−95% (nuclear)</a:t>
                      </a:r>
                    </a:p>
                  </a:txBody>
                  <a:tcPr marL="63500" marR="38100" marT="25400" marB="25400"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22.92</a:t>
                      </a:r>
                    </a:p>
                  </a:txBody>
                  <a:tcPr marL="63500" marR="38100" marT="25400" marB="25400"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2.06</a:t>
                      </a:r>
                    </a:p>
                  </a:txBody>
                  <a:tcPr marL="63500" marR="38100" marT="25400" marB="25400"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95%</a:t>
                      </a:r>
                    </a:p>
                  </a:txBody>
                  <a:tcPr marL="63500" marR="38100" marT="25400" marB="25400"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74.2</a:t>
                      </a:r>
                    </a:p>
                  </a:txBody>
                  <a:tcPr marL="63500" marR="38100" marT="25400" marB="25400">
                    <a:solidFill>
                      <a:srgbClr val="F3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S1 BES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Arial"/>
                        </a:rPr>
                        <a:t>−95% (no nuke)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22.94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2.06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95%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100.4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7F8C8D"/>
                          </a:solidFill>
                          <a:latin typeface="Arial"/>
                        </a:rPr>
                        <a:t>S2 NFS</a:t>
                      </a:r>
                    </a:p>
                  </a:txBody>
                  <a:tcPr marL="63500" marR="38100" marT="25400" marB="25400"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Arial"/>
                        </a:rPr>
                        <a:t>Unconstrained</a:t>
                      </a:r>
                    </a:p>
                  </a:txBody>
                  <a:tcPr marL="63500" marR="38100" marT="25400" marB="25400"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22.46</a:t>
                      </a:r>
                    </a:p>
                  </a:txBody>
                  <a:tcPr marL="63500" marR="38100" marT="25400" marB="25400"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12.57</a:t>
                      </a:r>
                    </a:p>
                  </a:txBody>
                  <a:tcPr marL="63500" marR="38100" marT="25400" marB="25400"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70%</a:t>
                      </a:r>
                    </a:p>
                  </a:txBody>
                  <a:tcPr marL="63500" marR="38100" marT="25400" marB="25400"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45.4</a:t>
                      </a:r>
                    </a:p>
                  </a:txBody>
                  <a:tcPr marL="63500" marR="38100" marT="25400" marB="25400">
                    <a:solidFill>
                      <a:srgbClr val="F3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7F8C8D"/>
                          </a:solidFill>
                          <a:latin typeface="Arial"/>
                        </a:rPr>
                        <a:t>S2 NFS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Arial"/>
                        </a:rPr>
                        <a:t>−95% (nuclear)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23.02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2.06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95%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74.2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7F8C8D"/>
                          </a:solidFill>
                          <a:latin typeface="Arial"/>
                        </a:rPr>
                        <a:t>S2 NFS</a:t>
                      </a:r>
                    </a:p>
                  </a:txBody>
                  <a:tcPr marL="63500" marR="38100" marT="25400" marB="25400"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Arial"/>
                        </a:rPr>
                        <a:t>−95% (no nuke)</a:t>
                      </a:r>
                    </a:p>
                  </a:txBody>
                  <a:tcPr marL="63500" marR="38100" marT="25400" marB="25400"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23.12</a:t>
                      </a:r>
                    </a:p>
                  </a:txBody>
                  <a:tcPr marL="63500" marR="38100" marT="25400" marB="25400"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2.06</a:t>
                      </a:r>
                    </a:p>
                  </a:txBody>
                  <a:tcPr marL="63500" marR="38100" marT="25400" marB="25400"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95%</a:t>
                      </a:r>
                    </a:p>
                  </a:txBody>
                  <a:tcPr marL="63500" marR="38100" marT="25400" marB="25400"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96.2</a:t>
                      </a:r>
                    </a:p>
                  </a:txBody>
                  <a:tcPr marL="63500" marR="38100" marT="25400" marB="25400">
                    <a:solidFill>
                      <a:srgbClr val="F3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7AE60"/>
                          </a:solidFill>
                          <a:latin typeface="Arial"/>
                        </a:rPr>
                        <a:t>S3 BDS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Arial"/>
                        </a:rPr>
                        <a:t>Unconstrained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22.62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13.10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68%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32.0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7AE60"/>
                          </a:solidFill>
                          <a:latin typeface="Arial"/>
                        </a:rPr>
                        <a:t>S3 BDS</a:t>
                      </a:r>
                    </a:p>
                  </a:txBody>
                  <a:tcPr marL="63500" marR="38100" marT="25400" marB="25400"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Arial"/>
                        </a:rPr>
                        <a:t>−95% (nuclear)</a:t>
                      </a:r>
                    </a:p>
                  </a:txBody>
                  <a:tcPr marL="63500" marR="38100" marT="25400" marB="25400"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23.56</a:t>
                      </a:r>
                    </a:p>
                  </a:txBody>
                  <a:tcPr marL="63500" marR="38100" marT="25400" marB="25400"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2.06</a:t>
                      </a:r>
                    </a:p>
                  </a:txBody>
                  <a:tcPr marL="63500" marR="38100" marT="25400" marB="25400"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95%</a:t>
                      </a:r>
                    </a:p>
                  </a:txBody>
                  <a:tcPr marL="63500" marR="38100" marT="25400" marB="25400"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40.0 ✦</a:t>
                      </a:r>
                    </a:p>
                  </a:txBody>
                  <a:tcPr marL="63500" marR="38100" marT="25400" marB="25400">
                    <a:solidFill>
                      <a:srgbClr val="F3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7AE60"/>
                          </a:solidFill>
                          <a:latin typeface="Arial"/>
                        </a:rPr>
                        <a:t>S3 BDS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Arial"/>
                        </a:rPr>
                        <a:t>−95% (no nuke)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23.90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2.06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95%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Arial"/>
                        </a:rPr>
                        <a:t>40.0 ✦</a:t>
                      </a:r>
                    </a:p>
                  </a:txBody>
                  <a:tcPr marL="63500" marR="381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80960" y="1371600"/>
            <a:ext cx="4023360" cy="4663440"/>
          </a:xfrm>
          <a:prstGeom prst="rect">
            <a:avLst/>
          </a:prstGeom>
          <a:solidFill>
            <a:srgbClr val="E8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0" y="1508760"/>
            <a:ext cx="3703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E5A3E"/>
                </a:solidFill>
                <a:latin typeface="Arial"/>
              </a:rPr>
              <a:t>Three headline messages</a:t>
            </a:r>
          </a:p>
          <a:p>
            <a:pPr>
              <a:spcBef>
                <a:spcPts val="800"/>
              </a:spcBef>
            </a:pPr>
            <a:r>
              <a:rPr sz="1250" b="1" i="0">
                <a:solidFill>
                  <a:srgbClr val="0E5A3E"/>
                </a:solidFill>
                <a:latin typeface="Arial"/>
              </a:rPr>
              <a:t>1.  </a:t>
            </a:r>
            <a:r>
              <a:rPr sz="1250" b="0" i="0">
                <a:solidFill>
                  <a:srgbClr val="1F2D2D"/>
                </a:solidFill>
                <a:latin typeface="Arial"/>
              </a:rPr>
              <a:t>2035 is already ~70% below 2017 even unconstrained — a structural floor (coal phase-out + brownfield renewables).</a:t>
            </a:r>
          </a:p>
          <a:p>
            <a:pPr>
              <a:spcBef>
                <a:spcPts val="800"/>
              </a:spcBef>
            </a:pPr>
            <a:r>
              <a:rPr sz="1250" b="1" i="0">
                <a:solidFill>
                  <a:srgbClr val="0E5A3E"/>
                </a:solidFill>
                <a:latin typeface="Arial"/>
              </a:rPr>
              <a:t>2.  </a:t>
            </a:r>
            <a:r>
              <a:rPr sz="1250" b="0" i="0">
                <a:solidFill>
                  <a:srgbClr val="1F2D2D"/>
                </a:solidFill>
                <a:latin typeface="Arial"/>
              </a:rPr>
              <a:t>Under −95%, S3 (conservation) saturates its 40 TWh ceiling and becomes the most expensive configuration.</a:t>
            </a:r>
          </a:p>
          <a:p>
            <a:pPr>
              <a:spcBef>
                <a:spcPts val="800"/>
              </a:spcBef>
            </a:pPr>
            <a:r>
              <a:rPr sz="1250" b="1" i="0">
                <a:solidFill>
                  <a:srgbClr val="0E5A3E"/>
                </a:solidFill>
                <a:latin typeface="Arial"/>
              </a:rPr>
              <a:t>3.  </a:t>
            </a:r>
            <a:r>
              <a:rPr sz="1250" b="0" i="0">
                <a:solidFill>
                  <a:srgbClr val="1F2D2D"/>
                </a:solidFill>
                <a:latin typeface="Arial"/>
              </a:rPr>
              <a:t>Removing nuclear sharply raises the value of biomass in S1/S2 (up to ~100 TWh) — but S3 physically cannot expand (✦ = ceiling binding).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28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5A6363"/>
                </a:solidFill>
                <a:latin typeface="Arial"/>
              </a:rPr>
              <a:t>M. Bordenave · Forest–Energy coupling for Finland · IIASA meeting, 9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282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6363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0B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9E8D6"/>
                </a:solidFill>
                <a:latin typeface="Arial"/>
              </a:rPr>
              <a:t>TWO METHODOLOGICAL GAPS</a:t>
            </a:r>
          </a:p>
          <a:p>
            <a:r>
              <a:rPr sz="2400" b="1" i="0">
                <a:solidFill>
                  <a:srgbClr val="FFFFFF"/>
                </a:solidFill>
                <a:latin typeface="Arial"/>
              </a:rPr>
              <a:t>What Paper 1 cannot yet represent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394960" cy="4480560"/>
          </a:xfrm>
          <a:prstGeom prst="rect">
            <a:avLst/>
          </a:prstGeom>
          <a:solidFill>
            <a:srgbClr val="F3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394960" cy="5669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</a:rPr>
              <a:t>1 · Static &amp; exogenous curves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983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0E5A3E"/>
                </a:solidFill>
                <a:latin typeface="Arial"/>
              </a:rPr>
              <a:t>—  </a:t>
            </a:r>
            <a:r>
              <a:rPr sz="1300" b="0" i="0">
                <a:solidFill>
                  <a:srgbClr val="1F2D2D"/>
                </a:solidFill>
                <a:latin typeface="Arial"/>
              </a:rPr>
              <a:t>Curves are read from ENSPRESO potentials and published papers, not from a forest model.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0E5A3E"/>
                </a:solidFill>
                <a:latin typeface="Arial"/>
              </a:rPr>
              <a:t>—  </a:t>
            </a:r>
            <a:r>
              <a:rPr sz="1300" b="0" i="0">
                <a:solidFill>
                  <a:srgbClr val="1F2D2D"/>
                </a:solidFill>
                <a:latin typeface="Arial"/>
              </a:rPr>
              <a:t>Scenarios differ only in availability and cost — no forest growth dynamics, age structure or disturbances.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0E5A3E"/>
                </a:solidFill>
                <a:latin typeface="Arial"/>
              </a:rPr>
              <a:t>—  </a:t>
            </a:r>
            <a:r>
              <a:rPr sz="1300" b="1" i="0">
                <a:solidFill>
                  <a:srgbClr val="1F2D2D"/>
                </a:solidFill>
                <a:latin typeface="Arial"/>
              </a:rPr>
              <a:t>S1 (+20%) and S3 (40 TWh) are stylised / revised</a:t>
            </a:r>
            <a:r>
              <a:rPr sz="1300" b="0" i="0">
                <a:solidFill>
                  <a:srgbClr val="1F2D2D"/>
                </a:solidFill>
                <a:latin typeface="Arial"/>
              </a:rPr>
              <a:t> — the cross-scenario volume differences rest largely on assumptions.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394960" cy="4480560"/>
          </a:xfrm>
          <a:prstGeom prst="rect">
            <a:avLst/>
          </a:prstGeom>
          <a:solidFill>
            <a:srgbClr val="F3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463040"/>
            <a:ext cx="5394960" cy="5669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5361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</a:rPr>
              <a:t>2 · The forest carbon sink is absent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4983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0E5A3E"/>
                </a:solidFill>
                <a:latin typeface="Arial"/>
              </a:rPr>
              <a:t>—  </a:t>
            </a:r>
            <a:r>
              <a:rPr sz="1300" b="0" i="0">
                <a:solidFill>
                  <a:srgbClr val="1F2D2D"/>
                </a:solidFill>
                <a:latin typeface="Arial"/>
              </a:rPr>
              <a:t>The binding constraint counts energy-system combustion CO₂ only; biomass is carbon-neutral by assumption.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0E5A3E"/>
                </a:solidFill>
                <a:latin typeface="Arial"/>
              </a:rPr>
              <a:t>—  </a:t>
            </a:r>
            <a:r>
              <a:rPr sz="1300" b="0" i="0">
                <a:solidFill>
                  <a:srgbClr val="1F2D2D"/>
                </a:solidFill>
                <a:latin typeface="Arial"/>
              </a:rPr>
              <a:t>The model sees the S1-vs-S3 climate difference only through supply-chain GHG.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0E5A3E"/>
                </a:solidFill>
                <a:latin typeface="Arial"/>
              </a:rPr>
              <a:t>—  </a:t>
            </a:r>
            <a:r>
              <a:rPr sz="1300" b="1" i="0">
                <a:solidFill>
                  <a:srgbClr val="1F2D2D"/>
                </a:solidFill>
                <a:latin typeface="Arial"/>
              </a:rPr>
              <a:t>It cannot represent the dominant effect of harvest intensity</a:t>
            </a:r>
            <a:r>
              <a:rPr sz="1300" b="0" i="0">
                <a:solidFill>
                  <a:srgbClr val="1F2D2D"/>
                </a:solidFill>
                <a:latin typeface="Arial"/>
              </a:rPr>
              <a:t>: lower harvest raises standing stock and the sink; intensive harvest depletes it.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0E5A3E"/>
                </a:solidFill>
                <a:latin typeface="Arial"/>
              </a:rPr>
              <a:t>—  </a:t>
            </a:r>
            <a:r>
              <a:rPr sz="1300" b="1" i="0">
                <a:solidFill>
                  <a:srgbClr val="1F2D2D"/>
                </a:solidFill>
                <a:latin typeface="Arial"/>
              </a:rPr>
              <a:t>Finnish/EU literature treats this as first-order</a:t>
            </a:r>
            <a:r>
              <a:rPr sz="1300" b="0" i="0">
                <a:solidFill>
                  <a:srgbClr val="5A6363"/>
                </a:solidFill>
                <a:latin typeface="Arial"/>
              </a:rPr>
              <a:t> (e.g. Blattert: NFS sink up to ~80, BES ~28 MtCO₂/yr; BDS starts highest then collapses).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28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5A6363"/>
                </a:solidFill>
                <a:latin typeface="Arial"/>
              </a:rPr>
              <a:t>M. Bordenave · Forest–Energy coupling for Finland · IIASA meeting, 9 Oct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282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6363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0B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9E8D6"/>
                </a:solidFill>
                <a:latin typeface="Arial"/>
              </a:rPr>
              <a:t>NEXT PHASE</a:t>
            </a:r>
          </a:p>
          <a:p>
            <a:r>
              <a:rPr sz="2400" b="1" i="0">
                <a:solidFill>
                  <a:srgbClr val="FFFFFF"/>
                </a:solidFill>
                <a:latin typeface="Arial"/>
              </a:rPr>
              <a:t>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1064240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00" b="1" i="0" dirty="0">
                <a:solidFill>
                  <a:srgbClr val="0E5A3E"/>
                </a:solidFill>
                <a:latin typeface="Arial"/>
              </a:rPr>
              <a:t>RQ1 — Management  —  </a:t>
            </a:r>
            <a:r>
              <a:rPr sz="1300" b="0" i="0" dirty="0">
                <a:solidFill>
                  <a:srgbClr val="1F2D2D"/>
                </a:solidFill>
                <a:latin typeface="Arial"/>
              </a:rPr>
              <a:t>How do contrasting management regimes reshape the dynamic Finnish wood supply curve (quantity, quality, marginal cost, 2025–20</a:t>
            </a:r>
            <a:r>
              <a:rPr lang="it-IT" sz="1300" b="0" i="0" dirty="0">
                <a:solidFill>
                  <a:srgbClr val="1F2D2D"/>
                </a:solidFill>
                <a:latin typeface="Arial"/>
              </a:rPr>
              <a:t>50</a:t>
            </a:r>
            <a:r>
              <a:rPr sz="1300" b="0" i="0" dirty="0">
                <a:solidFill>
                  <a:srgbClr val="1F2D2D"/>
                </a:solidFill>
                <a:latin typeface="Arial"/>
              </a:rPr>
              <a:t>) when derived from G4M rather than a static database?</a:t>
            </a:r>
          </a:p>
          <a:p>
            <a:pPr>
              <a:spcAft>
                <a:spcPts val="1100"/>
              </a:spcAft>
            </a:pPr>
            <a:r>
              <a:rPr sz="1400" b="1" i="0" dirty="0">
                <a:solidFill>
                  <a:srgbClr val="0E5A3E"/>
                </a:solidFill>
                <a:latin typeface="Arial"/>
              </a:rPr>
              <a:t>RQ2 — Sink coupling  —  </a:t>
            </a:r>
            <a:r>
              <a:rPr sz="1300" b="0" i="0" dirty="0">
                <a:solidFill>
                  <a:srgbClr val="1F2D2D"/>
                </a:solidFill>
                <a:latin typeface="Arial"/>
              </a:rPr>
              <a:t>When the forest carbon balance (sink/source + HWP) enters the national GHG budget, how does the optimal energy mix and the cost of deep </a:t>
            </a:r>
            <a:r>
              <a:rPr sz="1300" b="0" i="0" dirty="0" err="1">
                <a:solidFill>
                  <a:srgbClr val="1F2D2D"/>
                </a:solidFill>
                <a:latin typeface="Arial"/>
              </a:rPr>
              <a:t>decarbonisation</a:t>
            </a:r>
            <a:r>
              <a:rPr sz="1300" b="0" i="0" dirty="0">
                <a:solidFill>
                  <a:srgbClr val="1F2D2D"/>
                </a:solidFill>
                <a:latin typeface="Arial"/>
              </a:rPr>
              <a:t> change — and does the S1/S2/S3 climate ranking change?</a:t>
            </a:r>
          </a:p>
          <a:p>
            <a:pPr>
              <a:spcAft>
                <a:spcPts val="1100"/>
              </a:spcAft>
            </a:pPr>
            <a:r>
              <a:rPr sz="1400" b="1" i="0" dirty="0">
                <a:solidFill>
                  <a:srgbClr val="0E5A3E"/>
                </a:solidFill>
                <a:latin typeface="Arial"/>
              </a:rPr>
              <a:t>RQ3 — Shocks  —  </a:t>
            </a:r>
            <a:r>
              <a:rPr sz="1300" b="0" i="0" dirty="0">
                <a:solidFill>
                  <a:srgbClr val="1F2D2D"/>
                </a:solidFill>
                <a:latin typeface="Arial"/>
              </a:rPr>
              <a:t>How does a compound disturbance (windstorm → bark-beetle) propagate into the energy system — calamity-wood pulse, multi-year deficit, sink loss — and does it strand biomass-conversion assets?</a:t>
            </a:r>
          </a:p>
          <a:p>
            <a:pPr>
              <a:spcAft>
                <a:spcPts val="1100"/>
              </a:spcAft>
            </a:pPr>
            <a:r>
              <a:rPr sz="1400" b="1" i="0" dirty="0">
                <a:solidFill>
                  <a:srgbClr val="0E5A3E"/>
                </a:solidFill>
                <a:latin typeface="Arial"/>
              </a:rPr>
              <a:t>RQ4 — Policy framing  —  </a:t>
            </a:r>
            <a:r>
              <a:rPr sz="1300" b="0" i="0" dirty="0">
                <a:solidFill>
                  <a:srgbClr val="1F2D2D"/>
                </a:solidFill>
                <a:latin typeface="Arial"/>
              </a:rPr>
              <a:t>If the 'neutral' baseline becomes a sink-</a:t>
            </a:r>
            <a:r>
              <a:rPr sz="1300" b="0" i="0" dirty="0" err="1">
                <a:solidFill>
                  <a:srgbClr val="1F2D2D"/>
                </a:solidFill>
                <a:latin typeface="Arial"/>
              </a:rPr>
              <a:t>maximising</a:t>
            </a:r>
            <a:r>
              <a:rPr sz="1300" b="0" i="0" dirty="0">
                <a:solidFill>
                  <a:srgbClr val="1F2D2D"/>
                </a:solidFill>
                <a:latin typeface="Arial"/>
              </a:rPr>
              <a:t> / LULUCF net-zero scenario, what does economy-wide net-zero (energy + land) imply vs energy-only net-zero?</a:t>
            </a:r>
          </a:p>
          <a:p>
            <a:pPr>
              <a:spcAft>
                <a:spcPts val="1100"/>
              </a:spcAft>
            </a:pPr>
            <a:r>
              <a:rPr sz="1400" b="1" i="0" dirty="0">
                <a:solidFill>
                  <a:srgbClr val="0E5A3E"/>
                </a:solidFill>
                <a:latin typeface="Arial"/>
              </a:rPr>
              <a:t>RQ5 — Scaling  —  </a:t>
            </a:r>
            <a:r>
              <a:rPr sz="1300" b="0" i="0" dirty="0">
                <a:solidFill>
                  <a:srgbClr val="1F2D2D"/>
                </a:solidFill>
                <a:latin typeface="Arial"/>
              </a:rPr>
              <a:t>Can the same supply-curve representation scale to Europe and to competing end-uses (construction / HWP) with </a:t>
            </a:r>
            <a:r>
              <a:rPr sz="1300" b="0" i="0" dirty="0" err="1">
                <a:solidFill>
                  <a:srgbClr val="1F2D2D"/>
                </a:solidFill>
                <a:latin typeface="Arial"/>
              </a:rPr>
              <a:t>BeWhere</a:t>
            </a:r>
            <a:r>
              <a:rPr sz="1300" b="0" i="0" dirty="0">
                <a:solidFill>
                  <a:srgbClr val="1F2D2D"/>
                </a:solidFill>
                <a:latin typeface="Arial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28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5A6363"/>
                </a:solidFill>
                <a:latin typeface="Arial"/>
              </a:rPr>
              <a:t>M. Bordenave · Forest–Energy coupling for Finland · IIASA meeting, 9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282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6363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0B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9E8D6"/>
                </a:solidFill>
                <a:latin typeface="Arial"/>
              </a:rPr>
              <a:t>PROPOSAL TO IIASA — A</a:t>
            </a:r>
          </a:p>
          <a:p>
            <a:r>
              <a:rPr sz="2400" b="1" i="0">
                <a:solidFill>
                  <a:srgbClr val="FFFFFF"/>
                </a:solidFill>
                <a:latin typeface="Arial"/>
              </a:rPr>
              <a:t>G4M management-scenario supply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1064240" cy="2734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50" b="1" i="0" dirty="0">
                <a:solidFill>
                  <a:srgbClr val="0E5A3E"/>
                </a:solidFill>
                <a:latin typeface="Arial"/>
              </a:rPr>
              <a:t>—  </a:t>
            </a:r>
            <a:r>
              <a:rPr sz="1350" b="1" i="0" dirty="0">
                <a:solidFill>
                  <a:srgbClr val="1F2D2D"/>
                </a:solidFill>
                <a:latin typeface="Arial"/>
              </a:rPr>
              <a:t>Replace the hand-built curves with physically modelled, assortment-level harvest from G4M</a:t>
            </a:r>
            <a:r>
              <a:rPr sz="1350" b="0" i="0" dirty="0">
                <a:solidFill>
                  <a:srgbClr val="1F2D2D"/>
                </a:solidFill>
                <a:latin typeface="Arial"/>
              </a:rPr>
              <a:t> for Finland, 2025–2060, under each regime × climate pathway (GWL2 / GWL3).</a:t>
            </a:r>
          </a:p>
          <a:p>
            <a:pPr>
              <a:spcAft>
                <a:spcPts val="1100"/>
              </a:spcAft>
            </a:pPr>
            <a:r>
              <a:rPr sz="1350" b="1" i="0" dirty="0">
                <a:solidFill>
                  <a:srgbClr val="0E5A3E"/>
                </a:solidFill>
                <a:latin typeface="Arial"/>
              </a:rPr>
              <a:t>—  </a:t>
            </a:r>
            <a:r>
              <a:rPr sz="1350" b="1" i="0" dirty="0">
                <a:solidFill>
                  <a:srgbClr val="1F2D2D"/>
                </a:solidFill>
                <a:latin typeface="Arial"/>
              </a:rPr>
              <a:t>Extract per year:</a:t>
            </a:r>
            <a:r>
              <a:rPr sz="1350" b="0" i="0" dirty="0">
                <a:solidFill>
                  <a:srgbClr val="1F2D2D"/>
                </a:solidFill>
                <a:latin typeface="Arial"/>
              </a:rPr>
              <a:t> harvestable volume by assortment (sawlogs, pulpwood, logging residues, fuelwood, stumps); ecologically-available fractions</a:t>
            </a:r>
            <a:r>
              <a:rPr lang="it-IT" sz="1350" b="0" i="0" dirty="0">
                <a:solidFill>
                  <a:srgbClr val="1F2D2D"/>
                </a:solidFill>
                <a:latin typeface="Arial"/>
              </a:rPr>
              <a:t> (</a:t>
            </a:r>
            <a:r>
              <a:rPr lang="it-IT" sz="1350" b="0" i="0" dirty="0" err="1">
                <a:solidFill>
                  <a:srgbClr val="1F2D2D"/>
                </a:solidFill>
                <a:latin typeface="Arial"/>
              </a:rPr>
              <a:t>deadwood</a:t>
            </a:r>
            <a:r>
              <a:rPr lang="it-IT" sz="1350" b="0" i="0" dirty="0">
                <a:solidFill>
                  <a:srgbClr val="1F2D2D"/>
                </a:solidFill>
                <a:latin typeface="Arial"/>
              </a:rPr>
              <a:t>)</a:t>
            </a:r>
            <a:r>
              <a:rPr sz="1350" b="0" i="0" dirty="0">
                <a:solidFill>
                  <a:srgbClr val="1F2D2D"/>
                </a:solidFill>
                <a:latin typeface="Arial"/>
              </a:rPr>
              <a:t>; net forest + HWP carbon flux.</a:t>
            </a:r>
          </a:p>
          <a:p>
            <a:pPr>
              <a:spcAft>
                <a:spcPts val="1100"/>
              </a:spcAft>
            </a:pPr>
            <a:r>
              <a:rPr sz="1350" b="1" i="0" dirty="0">
                <a:solidFill>
                  <a:srgbClr val="0E5A3E"/>
                </a:solidFill>
                <a:latin typeface="Arial"/>
              </a:rPr>
              <a:t>—  </a:t>
            </a:r>
            <a:r>
              <a:rPr sz="1350" b="1" i="0" dirty="0">
                <a:solidFill>
                  <a:srgbClr val="1F2D2D"/>
                </a:solidFill>
                <a:latin typeface="Arial"/>
              </a:rPr>
              <a:t>Derive the energy-available volume as the residual</a:t>
            </a:r>
            <a:r>
              <a:rPr sz="1350" b="0" i="0" dirty="0">
                <a:solidFill>
                  <a:srgbClr val="1F2D2D"/>
                </a:solidFill>
                <a:latin typeface="Arial"/>
              </a:rPr>
              <a:t> after industrial roundwood demand under each regime — exactly the step we now assume.</a:t>
            </a:r>
          </a:p>
          <a:p>
            <a:pPr>
              <a:spcAft>
                <a:spcPts val="1100"/>
              </a:spcAft>
            </a:pPr>
            <a:r>
              <a:rPr sz="1350" b="1" i="0" dirty="0">
                <a:solidFill>
                  <a:srgbClr val="0E5A3E"/>
                </a:solidFill>
                <a:latin typeface="Arial"/>
              </a:rPr>
              <a:t>—  </a:t>
            </a:r>
            <a:r>
              <a:rPr sz="1350" b="1" i="0" dirty="0">
                <a:solidFill>
                  <a:srgbClr val="1F2D2D"/>
                </a:solidFill>
                <a:latin typeface="Arial"/>
              </a:rPr>
              <a:t>Map assortments → existing WOOD_FI1…FI4 steps</a:t>
            </a:r>
            <a:r>
              <a:rPr sz="1350" b="0" i="0" dirty="0">
                <a:solidFill>
                  <a:srgbClr val="1F2D2D"/>
                </a:solidFill>
                <a:latin typeface="Arial"/>
              </a:rPr>
              <a:t> (</a:t>
            </a:r>
            <a:r>
              <a:rPr sz="1350" b="0" i="0" dirty="0" err="1">
                <a:solidFill>
                  <a:srgbClr val="1F2D2D"/>
                </a:solidFill>
                <a:latin typeface="Arial"/>
              </a:rPr>
              <a:t>volume→energy</a:t>
            </a:r>
            <a:r>
              <a:rPr sz="1350" b="0" i="0" dirty="0">
                <a:solidFill>
                  <a:srgbClr val="1F2D2D"/>
                </a:solidFill>
                <a:latin typeface="Arial"/>
              </a:rPr>
              <a:t> factors, costs from Finnish statistics / RED II). </a:t>
            </a:r>
            <a:r>
              <a:rPr sz="1350" b="0" i="0" dirty="0" err="1">
                <a:solidFill>
                  <a:srgbClr val="1F2D2D"/>
                </a:solidFill>
                <a:latin typeface="Arial"/>
              </a:rPr>
              <a:t>EnergyScope</a:t>
            </a:r>
            <a:r>
              <a:rPr sz="1350" b="0" i="0" dirty="0">
                <a:solidFill>
                  <a:srgbClr val="1F2D2D"/>
                </a:solidFill>
                <a:latin typeface="Arial"/>
              </a:rPr>
              <a:t> implementation unchanged.</a:t>
            </a:r>
          </a:p>
          <a:p>
            <a:pPr>
              <a:spcAft>
                <a:spcPts val="1100"/>
              </a:spcAft>
            </a:pPr>
            <a:r>
              <a:rPr sz="1350" b="1" i="0" dirty="0">
                <a:solidFill>
                  <a:srgbClr val="0E5A3E"/>
                </a:solidFill>
                <a:latin typeface="Arial"/>
              </a:rPr>
              <a:t>—  </a:t>
            </a:r>
            <a:r>
              <a:rPr sz="1350" b="1" i="0" dirty="0">
                <a:solidFill>
                  <a:srgbClr val="B9770E"/>
                </a:solidFill>
                <a:latin typeface="Arial"/>
              </a:rPr>
              <a:t>Structural question to settle:</a:t>
            </a:r>
            <a:r>
              <a:rPr sz="1350" b="0" i="0" dirty="0">
                <a:solidFill>
                  <a:srgbClr val="1F2D2D"/>
                </a:solidFill>
                <a:latin typeface="Arial"/>
              </a:rPr>
              <a:t> FI1 is a captive industrial by-product stream (black liquor, bark, sawdust) driven by processing throughput, not forest-gate harvest — keep from statistics, or bridge from G4M roundwood?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28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5A6363"/>
                </a:solidFill>
                <a:latin typeface="Arial"/>
              </a:rPr>
              <a:t>M. Bordenave · Forest–Energy coupling for Finland · IIASA meeting, 9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282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6363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0B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9E8D6"/>
                </a:solidFill>
                <a:latin typeface="Arial"/>
              </a:rPr>
              <a:t>PROPOSAL TO IIASA — B</a:t>
            </a:r>
          </a:p>
          <a:p>
            <a:r>
              <a:rPr sz="2400" b="1" i="0">
                <a:solidFill>
                  <a:srgbClr val="FFFFFF"/>
                </a:solidFill>
                <a:latin typeface="Arial"/>
              </a:rPr>
              <a:t>Disturbance-shock supply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1064240" cy="3716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 i="0" dirty="0">
                <a:solidFill>
                  <a:srgbClr val="0E5A3E"/>
                </a:solidFill>
                <a:latin typeface="Arial"/>
              </a:rPr>
              <a:t>—  </a:t>
            </a:r>
            <a:r>
              <a:rPr sz="1350" b="1" i="0" dirty="0">
                <a:solidFill>
                  <a:srgbClr val="1F2D2D"/>
                </a:solidFill>
                <a:latin typeface="Arial"/>
              </a:rPr>
              <a:t>Use G4M's disturbance-aware runs (+ </a:t>
            </a:r>
            <a:r>
              <a:rPr sz="1350" b="1" i="0" dirty="0" err="1">
                <a:solidFill>
                  <a:srgbClr val="1F2D2D"/>
                </a:solidFill>
                <a:latin typeface="Arial"/>
              </a:rPr>
              <a:t>ForestNavigator</a:t>
            </a:r>
            <a:r>
              <a:rPr sz="1350" b="1" i="0" dirty="0">
                <a:solidFill>
                  <a:srgbClr val="1F2D2D"/>
                </a:solidFill>
                <a:latin typeface="Arial"/>
              </a:rPr>
              <a:t> FLAM / bark-beetle / wind) to build time-profiled curves around a compound event</a:t>
            </a:r>
            <a:r>
              <a:rPr sz="1350" b="0" i="0" dirty="0">
                <a:solidFill>
                  <a:srgbClr val="1F2D2D"/>
                </a:solidFill>
                <a:latin typeface="Arial"/>
              </a:rPr>
              <a:t>, not a single lower ceiling.</a:t>
            </a:r>
          </a:p>
          <a:p>
            <a:pPr>
              <a:spcAft>
                <a:spcPts val="800"/>
              </a:spcAft>
            </a:pPr>
            <a:r>
              <a:rPr sz="1350" b="1" i="0" dirty="0">
                <a:solidFill>
                  <a:srgbClr val="0E5A3E"/>
                </a:solidFill>
                <a:latin typeface="Arial"/>
              </a:rPr>
              <a:t>—  </a:t>
            </a:r>
            <a:r>
              <a:rPr sz="1350" b="1" i="0" dirty="0">
                <a:solidFill>
                  <a:srgbClr val="1F2D2D"/>
                </a:solidFill>
                <a:latin typeface="Arial"/>
              </a:rPr>
              <a:t>A disturbance scenario superimposes three effects:</a:t>
            </a:r>
          </a:p>
          <a:p>
            <a:pPr lvl="1">
              <a:spcAft>
                <a:spcPts val="800"/>
              </a:spcAft>
            </a:pPr>
            <a:r>
              <a:rPr sz="1350" b="1" i="0" dirty="0">
                <a:solidFill>
                  <a:srgbClr val="5A6363"/>
                </a:solidFill>
                <a:latin typeface="Arial"/>
              </a:rPr>
              <a:t>·   </a:t>
            </a:r>
            <a:r>
              <a:rPr sz="1350" b="1" i="0" dirty="0">
                <a:solidFill>
                  <a:srgbClr val="1F2D2D"/>
                </a:solidFill>
                <a:latin typeface="Arial"/>
              </a:rPr>
              <a:t>Calamity-wood pulse</a:t>
            </a:r>
            <a:r>
              <a:rPr sz="1350" b="0" i="0" dirty="0">
                <a:solidFill>
                  <a:srgbClr val="1F2D2D"/>
                </a:solidFill>
                <a:latin typeface="Arial"/>
              </a:rPr>
              <a:t> — a large, cheap, time-limited (~18–24 </a:t>
            </a:r>
            <a:r>
              <a:rPr sz="1350" b="0" i="0" dirty="0" err="1">
                <a:solidFill>
                  <a:srgbClr val="1F2D2D"/>
                </a:solidFill>
                <a:latin typeface="Arial"/>
              </a:rPr>
              <a:t>mo</a:t>
            </a:r>
            <a:r>
              <a:rPr sz="1350" b="0" i="0" dirty="0">
                <a:solidFill>
                  <a:srgbClr val="1F2D2D"/>
                </a:solidFill>
                <a:latin typeface="Arial"/>
              </a:rPr>
              <a:t>) salvage volume, quality-</a:t>
            </a:r>
            <a:r>
              <a:rPr sz="1350" b="0" i="0" dirty="0" err="1">
                <a:solidFill>
                  <a:srgbClr val="1F2D2D"/>
                </a:solidFill>
                <a:latin typeface="Arial"/>
              </a:rPr>
              <a:t>penalised</a:t>
            </a:r>
            <a:r>
              <a:rPr sz="1350" b="0" i="0" dirty="0">
                <a:solidFill>
                  <a:srgbClr val="1F2D2D"/>
                </a:solidFill>
                <a:latin typeface="Arial"/>
              </a:rPr>
              <a:t> (blue-stain, moisture, LHV −10…−25%).</a:t>
            </a:r>
          </a:p>
          <a:p>
            <a:pPr lvl="1">
              <a:spcAft>
                <a:spcPts val="800"/>
              </a:spcAft>
            </a:pPr>
            <a:r>
              <a:rPr sz="1350" b="1" i="0" dirty="0">
                <a:solidFill>
                  <a:srgbClr val="5A6363"/>
                </a:solidFill>
                <a:latin typeface="Arial"/>
              </a:rPr>
              <a:t>·   </a:t>
            </a:r>
            <a:r>
              <a:rPr sz="1350" b="1" i="0" dirty="0">
                <a:solidFill>
                  <a:srgbClr val="1F2D2D"/>
                </a:solidFill>
                <a:latin typeface="Arial"/>
              </a:rPr>
              <a:t>Structural supply deficit</a:t>
            </a:r>
            <a:r>
              <a:rPr sz="1350" b="0" i="0" dirty="0">
                <a:solidFill>
                  <a:srgbClr val="1F2D2D"/>
                </a:solidFill>
                <a:latin typeface="Arial"/>
              </a:rPr>
              <a:t> — reduced availability for 10–15 years from depleted cohorts and damaged area out of rotation.</a:t>
            </a:r>
          </a:p>
          <a:p>
            <a:pPr lvl="1">
              <a:spcAft>
                <a:spcPts val="800"/>
              </a:spcAft>
            </a:pPr>
            <a:r>
              <a:rPr sz="1350" b="1" i="0" dirty="0">
                <a:solidFill>
                  <a:srgbClr val="5A6363"/>
                </a:solidFill>
                <a:latin typeface="Arial"/>
              </a:rPr>
              <a:t>·   </a:t>
            </a:r>
            <a:r>
              <a:rPr sz="1350" b="1" i="0" dirty="0">
                <a:solidFill>
                  <a:srgbClr val="1F2D2D"/>
                </a:solidFill>
                <a:latin typeface="Arial"/>
              </a:rPr>
              <a:t>Sink loss</a:t>
            </a:r>
            <a:r>
              <a:rPr sz="1350" b="0" i="0" dirty="0">
                <a:solidFill>
                  <a:srgbClr val="1F2D2D"/>
                </a:solidFill>
                <a:latin typeface="Arial"/>
              </a:rPr>
              <a:t> — an immediate LULUCF emission from killed biomass and foregone growth.</a:t>
            </a:r>
          </a:p>
          <a:p>
            <a:pPr>
              <a:spcAft>
                <a:spcPts val="800"/>
              </a:spcAft>
            </a:pPr>
            <a:r>
              <a:rPr sz="1350" b="1" i="0" dirty="0">
                <a:solidFill>
                  <a:srgbClr val="0E5A3E"/>
                </a:solidFill>
                <a:latin typeface="Arial"/>
              </a:rPr>
              <a:t>—  </a:t>
            </a:r>
            <a:r>
              <a:rPr sz="1350" b="1" i="0" dirty="0">
                <a:solidFill>
                  <a:srgbClr val="1F2D2D"/>
                </a:solidFill>
                <a:latin typeface="Arial"/>
              </a:rPr>
              <a:t>Energy-system response studied as a pre-shock → post-shock pair with constrained re-</a:t>
            </a:r>
            <a:r>
              <a:rPr sz="1350" b="1" i="0" dirty="0" err="1">
                <a:solidFill>
                  <a:srgbClr val="1F2D2D"/>
                </a:solidFill>
                <a:latin typeface="Arial"/>
              </a:rPr>
              <a:t>optimisation</a:t>
            </a:r>
            <a:r>
              <a:rPr sz="1350" b="0" i="0" dirty="0">
                <a:solidFill>
                  <a:srgbClr val="1F2D2D"/>
                </a:solidFill>
                <a:latin typeface="Arial"/>
              </a:rPr>
              <a:t> (inherited lower bounds on installed capacity) to expose stranded-asset and transition-delay risk.</a:t>
            </a:r>
            <a:endParaRPr lang="it-IT" sz="1350" b="0" i="0" dirty="0">
              <a:solidFill>
                <a:srgbClr val="1F2D2D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endParaRPr lang="en-US" sz="1350" dirty="0">
              <a:solidFill>
                <a:srgbClr val="1F2D2D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endParaRPr lang="en-US" sz="1350" b="0" i="0" dirty="0">
              <a:solidFill>
                <a:srgbClr val="1F2D2D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endParaRPr lang="en-US" sz="1350" dirty="0">
              <a:solidFill>
                <a:srgbClr val="1F2D2D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lang="en-US" sz="1350" b="0" i="0" dirty="0">
                <a:solidFill>
                  <a:srgbClr val="1F2D2D"/>
                </a:solidFill>
                <a:latin typeface="Arial"/>
              </a:rPr>
              <a:t>													quid technological capacity and supply curves ? </a:t>
            </a:r>
            <a:endParaRPr sz="1350" b="0" i="0" dirty="0">
              <a:solidFill>
                <a:srgbClr val="1F2D2D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428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5A6363"/>
                </a:solidFill>
                <a:latin typeface="Arial"/>
              </a:rPr>
              <a:t>M. Bordenave · Forest–Energy coupling for Finland · IIASA meeting, 9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282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6363"/>
                </a:solidFill>
                <a:latin typeface="Arial"/>
              </a:rPr>
              <a:t>10</a:t>
            </a:r>
          </a:p>
        </p:txBody>
      </p:sp>
      <p:pic>
        <p:nvPicPr>
          <p:cNvPr id="9" name="Picture 8" descr="biomass_supply_curves_fi_2035.png">
            <a:extLst>
              <a:ext uri="{FF2B5EF4-FFF2-40B4-BE49-F238E27FC236}">
                <a16:creationId xmlns:a16="http://schemas.microsoft.com/office/drawing/2014/main" id="{0726D73A-C3E8-3475-DDBD-D3B47D3B7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719" y="3842526"/>
            <a:ext cx="4210334" cy="2139224"/>
          </a:xfrm>
          <a:prstGeom prst="rect">
            <a:avLst/>
          </a:prstGeom>
        </p:spPr>
      </p:pic>
      <p:sp>
        <p:nvSpPr>
          <p:cNvPr id="10" name="Right Brace 9">
            <a:extLst>
              <a:ext uri="{FF2B5EF4-FFF2-40B4-BE49-F238E27FC236}">
                <a16:creationId xmlns:a16="http://schemas.microsoft.com/office/drawing/2014/main" id="{9A8DC55C-A89B-763A-D59A-7C77665F8F49}"/>
              </a:ext>
            </a:extLst>
          </p:cNvPr>
          <p:cNvSpPr/>
          <p:nvPr/>
        </p:nvSpPr>
        <p:spPr>
          <a:xfrm rot="2702882">
            <a:off x="3466532" y="4492277"/>
            <a:ext cx="375313" cy="1282889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0B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9E8D6"/>
                </a:solidFill>
                <a:latin typeface="Arial"/>
              </a:rPr>
              <a:t>PROPOSAL TO IIASA — C</a:t>
            </a:r>
          </a:p>
          <a:p>
            <a:r>
              <a:rPr sz="2400" b="1" i="0">
                <a:solidFill>
                  <a:srgbClr val="FFFFFF"/>
                </a:solidFill>
                <a:latin typeface="Arial"/>
              </a:rPr>
              <a:t>Coupling the forest carbon sink into EnergyScope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F2D2D"/>
                </a:solidFill>
                <a:latin typeface="Arial"/>
              </a:rPr>
              <a:t>Make the national target a land–energy coupled budget — a small, transparent AMPL change: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57400"/>
            <a:ext cx="10515600" cy="1234440"/>
          </a:xfrm>
          <a:prstGeom prst="rect">
            <a:avLst/>
          </a:prstGeom>
          <a:solidFill>
            <a:srgbClr val="E8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1">
                <a:solidFill>
                  <a:srgbClr val="1F2D2D"/>
                </a:solidFill>
                <a:latin typeface="Arial"/>
              </a:rPr>
              <a:t>Σ_r CO₂_net[r] </a:t>
            </a:r>
            <a:r>
              <a:rPr sz="1700" b="1" i="1">
                <a:solidFill>
                  <a:srgbClr val="0E5A3E"/>
                </a:solidFill>
                <a:latin typeface="Arial"/>
              </a:rPr>
              <a:t>− S_forest(scenario, year, disturbance)</a:t>
            </a:r>
            <a:r>
              <a:rPr sz="1700" b="1" i="1">
                <a:solidFill>
                  <a:srgbClr val="1F2D2D"/>
                </a:solidFill>
                <a:latin typeface="Arial"/>
              </a:rPr>
              <a:t>  ≤  gwp_limit</a:t>
            </a:r>
          </a:p>
          <a:p>
            <a:r>
              <a:rPr sz="1200" b="0" i="1">
                <a:solidFill>
                  <a:srgbClr val="5A6363"/>
                </a:solidFill>
                <a:latin typeface="Arial"/>
              </a:rPr>
              <a:t>S_forest = exogenous net forest + HWP CO₂ flux from G4M (one national parameter per scenario-year; &lt;0 when a sink).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1" i="0">
                <a:solidFill>
                  <a:srgbClr val="0E5A3E"/>
                </a:solidFill>
                <a:latin typeface="Arial"/>
              </a:rPr>
              <a:t>—  </a:t>
            </a:r>
            <a:r>
              <a:rPr sz="1300" b="1" i="0">
                <a:solidFill>
                  <a:srgbClr val="1F2D2D"/>
                </a:solidFill>
                <a:latin typeface="Arial"/>
              </a:rPr>
              <a:t>Harvest intensity and disturbances now act on the energy system through the sink</a:t>
            </a:r>
            <a:r>
              <a:rPr sz="1300" b="0" i="0">
                <a:solidFill>
                  <a:srgbClr val="1F2D2D"/>
                </a:solidFill>
                <a:latin typeface="Arial"/>
              </a:rPr>
              <a:t>, not only through wood availability.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0E5A3E"/>
                </a:solidFill>
                <a:latin typeface="Arial"/>
              </a:rPr>
              <a:t>—  RQ2:</a:t>
            </a:r>
            <a:r>
              <a:rPr sz="1300" b="0" i="0">
                <a:solidFill>
                  <a:srgbClr val="1F2D2D"/>
                </a:solidFill>
                <a:latin typeface="Arial"/>
              </a:rPr>
              <a:t> does deep decarbonisation become cheaper under conservation (large sink credit), or does the energy-only penalty dominate?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0E5A3E"/>
                </a:solidFill>
                <a:latin typeface="Arial"/>
              </a:rPr>
              <a:t>—  RQ4 / new S0 scenario:</a:t>
            </a:r>
            <a:r>
              <a:rPr sz="1300" b="0" i="0">
                <a:solidFill>
                  <a:srgbClr val="1F2D2D"/>
                </a:solidFill>
                <a:latin typeface="Arial"/>
              </a:rPr>
              <a:t> define net-zero over energy + land (Σ_r CO₂_net ≤ S_forest) — a sink-maximising baseline replacing the 'neutral' S2 framing.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0E5A3E"/>
                </a:solidFill>
                <a:latin typeface="Arial"/>
              </a:rPr>
              <a:t>—  </a:t>
            </a:r>
            <a:r>
              <a:rPr sz="1300" b="1" i="0">
                <a:solidFill>
                  <a:srgbClr val="1F2D2D"/>
                </a:solidFill>
                <a:latin typeface="Arial"/>
              </a:rPr>
              <a:t>Scope control:</a:t>
            </a:r>
            <a:r>
              <a:rPr sz="1300" b="0" i="0">
                <a:solidFill>
                  <a:srgbClr val="1F2D2D"/>
                </a:solidFill>
                <a:latin typeface="Arial"/>
              </a:rPr>
              <a:t> S_forest is an exogenous input, not endogenised. EnergyScope responds to forest management; it does not optimise it. One-way coupling, tractable for a first paper.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28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5A6363"/>
                </a:solidFill>
                <a:latin typeface="Arial"/>
              </a:rPr>
              <a:t>M. Bordenave · Forest–Energy coupling for Finland · IIASA meeting, 9 Oct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282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6363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0B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9E8D6"/>
                </a:solidFill>
                <a:latin typeface="Arial"/>
              </a:rPr>
              <a:t>PROPOSAL TO IIASA — D</a:t>
            </a:r>
          </a:p>
          <a:p>
            <a:r>
              <a:rPr sz="2400" b="1" i="0">
                <a:solidFill>
                  <a:srgbClr val="FFFFFF"/>
                </a:solidFill>
                <a:latin typeface="Arial"/>
              </a:rPr>
              <a:t>European, cross-sectoral extension with BeWhere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 i="0">
                <a:solidFill>
                  <a:srgbClr val="0E5A3E"/>
                </a:solidFill>
                <a:latin typeface="Arial"/>
              </a:rPr>
              <a:t>—  </a:t>
            </a:r>
            <a:r>
              <a:rPr sz="1400" b="1" i="0">
                <a:solidFill>
                  <a:srgbClr val="1F2D2D"/>
                </a:solidFill>
                <a:latin typeface="Arial"/>
              </a:rPr>
              <a:t>Parallel / follow-on track with Fabian Schipfer &amp; Shubham Tiwari (IIASA).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0E5A3E"/>
                </a:solidFill>
                <a:latin typeface="Arial"/>
              </a:rPr>
              <a:t>—  </a:t>
            </a:r>
            <a:r>
              <a:rPr sz="1400" b="1" i="0">
                <a:solidFill>
                  <a:srgbClr val="1F2D2D"/>
                </a:solidFill>
                <a:latin typeface="Arial"/>
              </a:rPr>
              <a:t>Scale the quality- and cost-differentiated supply-curve representation</a:t>
            </a:r>
            <a:r>
              <a:rPr sz="1400" b="0" i="0">
                <a:solidFill>
                  <a:srgbClr val="1F2D2D"/>
                </a:solidFill>
                <a:latin typeface="Arial"/>
              </a:rPr>
              <a:t> from Finland to Europe, and from energy to competing end-uses (construction / engineered wood / HWP).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0E5A3E"/>
                </a:solidFill>
                <a:latin typeface="Arial"/>
              </a:rPr>
              <a:t>—  </a:t>
            </a:r>
            <a:r>
              <a:rPr sz="1400" b="1" i="0">
                <a:solidFill>
                  <a:srgbClr val="1F2D2D"/>
                </a:solidFill>
                <a:latin typeface="Arial"/>
              </a:rPr>
              <a:t>Division of view:</a:t>
            </a:r>
            <a:r>
              <a:rPr sz="1400" b="0" i="0">
                <a:solidFill>
                  <a:srgbClr val="1F2D2D"/>
                </a:solidFill>
                <a:latin typeface="Arial"/>
              </a:rPr>
              <a:t> EnergyScope-Finland provides the national energy-system deep dive; BeWhere provides the spatially explicit, multi-sector, European allocation.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0E5A3E"/>
                </a:solidFill>
                <a:latin typeface="Arial"/>
              </a:rPr>
              <a:t>—  Shared object:</a:t>
            </a:r>
            <a:r>
              <a:rPr sz="1400" b="0" i="0">
                <a:solidFill>
                  <a:srgbClr val="1F2D2D"/>
                </a:solidFill>
                <a:latin typeface="Arial"/>
              </a:rPr>
              <a:t> a transferable, disturbance- and management-aware biomass supply-curve interface.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0E5A3E"/>
                </a:solidFill>
                <a:latin typeface="Arial"/>
              </a:rPr>
              <a:t>—  </a:t>
            </a:r>
            <a:r>
              <a:rPr sz="1400" b="1" i="0">
                <a:solidFill>
                  <a:srgbClr val="B9770E"/>
                </a:solidFill>
                <a:latin typeface="Arial"/>
              </a:rPr>
              <a:t>Open:</a:t>
            </a:r>
            <a:r>
              <a:rPr sz="1400" b="0" i="0">
                <a:solidFill>
                  <a:srgbClr val="1F2D2D"/>
                </a:solidFill>
                <a:latin typeface="Arial"/>
              </a:rPr>
              <a:t> is there a Schipfer/Tiwari BeWhere capability for construction / HWP supply chains, and on what timeline for a joint output (paper / proposal)?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28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5A6363"/>
                </a:solidFill>
                <a:latin typeface="Arial"/>
              </a:rPr>
              <a:t>M. Bordenave · Forest–Energy coupling for Finland · IIASA meeting, 9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282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6363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0B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9E8D6"/>
                </a:solidFill>
                <a:latin typeface="Arial"/>
              </a:rPr>
              <a:t>OPEN QUESTIONS FOR IIASA</a:t>
            </a:r>
          </a:p>
          <a:p>
            <a:r>
              <a:rPr sz="2400" b="1" i="0">
                <a:solidFill>
                  <a:srgbClr val="FFFFFF"/>
                </a:solidFill>
                <a:latin typeface="Arial"/>
              </a:rPr>
              <a:t>What we need to settle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 i="0">
                <a:solidFill>
                  <a:srgbClr val="0E5A3E"/>
                </a:solidFill>
                <a:latin typeface="Arial"/>
              </a:rPr>
              <a:t>Q1.  </a:t>
            </a:r>
            <a:r>
              <a:rPr sz="1250" b="0" i="0">
                <a:solidFill>
                  <a:srgbClr val="1F2D2D"/>
                </a:solidFill>
                <a:latin typeface="Arial"/>
              </a:rPr>
              <a:t>Does G4M run for Finland at a resolution usable for national supply curves, and output assortment-level harvest + net carbon/HWP flux per management scenario? G4M alone, or via GLOBIOM?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0E5A3E"/>
                </a:solidFill>
                <a:latin typeface="Arial"/>
              </a:rPr>
              <a:t>Q2.  </a:t>
            </a:r>
            <a:r>
              <a:rPr sz="1250" b="0" i="0">
                <a:solidFill>
                  <a:srgbClr val="1F2D2D"/>
                </a:solidFill>
                <a:latin typeface="Arial"/>
              </a:rPr>
              <a:t>Does G4M output a separate, quantified deadwood carbon pool per scenario-year? (Needed for the sink term and the BDS narrative.)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0E5A3E"/>
                </a:solidFill>
                <a:latin typeface="Arial"/>
              </a:rPr>
              <a:t>Q3.  </a:t>
            </a:r>
            <a:r>
              <a:rPr sz="1250" b="0" i="0">
                <a:solidFill>
                  <a:srgbClr val="1F2D2D"/>
                </a:solidFill>
                <a:latin typeface="Arial"/>
              </a:rPr>
              <a:t>How do you endogenise the industry-vs-energy split, so energy-available residue is what remains after industrial roundwood demand? What industrial-demand trajectory?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0E5A3E"/>
                </a:solidFill>
                <a:latin typeface="Arial"/>
              </a:rPr>
              <a:t>Q4.  </a:t>
            </a:r>
            <a:r>
              <a:rPr sz="1250" b="0" i="0">
                <a:solidFill>
                  <a:srgbClr val="1F2D2D"/>
                </a:solidFill>
                <a:latin typeface="Arial"/>
              </a:rPr>
              <a:t>Are ecological availability fractions (deadwood/residue retention, set-aside) applied inside G4M per scenario, or must we post-apply them?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0E5A3E"/>
                </a:solidFill>
                <a:latin typeface="Arial"/>
              </a:rPr>
              <a:t>Q5.  </a:t>
            </a:r>
            <a:r>
              <a:rPr sz="1250" b="0" i="0">
                <a:solidFill>
                  <a:srgbClr val="1F2D2D"/>
                </a:solidFill>
                <a:latin typeface="Arial"/>
              </a:rPr>
              <a:t>For Finland, is growth/disturbance driven by G4M, PREBAS, or PICUS in your setup?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0E5A3E"/>
                </a:solidFill>
                <a:latin typeface="Arial"/>
              </a:rPr>
              <a:t>Q6.  </a:t>
            </a:r>
            <a:r>
              <a:rPr sz="1250" b="0" i="0">
                <a:solidFill>
                  <a:srgbClr val="1F2D2D"/>
                </a:solidFill>
                <a:latin typeface="Arial"/>
              </a:rPr>
              <a:t>D3.4 models disturbance as biomass loss only — is a salvage-wood recovery extension available or planned, or do we build the post-processing?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0E5A3E"/>
                </a:solidFill>
                <a:latin typeface="Arial"/>
              </a:rPr>
              <a:t>Q7.  </a:t>
            </a:r>
            <a:r>
              <a:rPr sz="1250" b="0" i="0">
                <a:solidFill>
                  <a:srgbClr val="1F2D2D"/>
                </a:solidFill>
                <a:latin typeface="Arial"/>
              </a:rPr>
              <a:t>How should calamity-wood carbon be treated in Finland's LULUCF / forest reference level for the coupled GHG budget?</a:t>
            </a: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0E5A3E"/>
                </a:solidFill>
                <a:latin typeface="Arial"/>
              </a:rPr>
              <a:t>Q8.  </a:t>
            </a:r>
            <a:r>
              <a:rPr sz="1250" b="0" i="0">
                <a:solidFill>
                  <a:srgbClr val="1F2D2D"/>
                </a:solidFill>
                <a:latin typeface="Arial"/>
              </a:rPr>
              <a:t>Is there a BeWhere capability for construction / HWP supply chains (Schipfer / Tiwari), and on what timeline?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28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5A6363"/>
                </a:solidFill>
                <a:latin typeface="Arial"/>
              </a:rPr>
              <a:t>M. Bordenave · Forest–Energy coupling for Finland · IIASA meeting, 9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282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6363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0B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9E8D6"/>
                </a:solidFill>
                <a:latin typeface="Arial"/>
              </a:rPr>
              <a:t>PATH FORWARD</a:t>
            </a:r>
          </a:p>
          <a:p>
            <a:r>
              <a:rPr sz="2400" b="1" i="0">
                <a:solidFill>
                  <a:srgbClr val="FFFFFF"/>
                </a:solidFill>
                <a:latin typeface="Arial"/>
              </a:rPr>
              <a:t>Who does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 i="0">
                <a:solidFill>
                  <a:srgbClr val="0E5A3E"/>
                </a:solidFill>
                <a:latin typeface="Arial"/>
              </a:rPr>
              <a:t>[IIASA — G4M team]  </a:t>
            </a:r>
            <a:r>
              <a:rPr sz="1300" b="0" i="0">
                <a:solidFill>
                  <a:srgbClr val="1F2D2D"/>
                </a:solidFill>
                <a:latin typeface="Arial"/>
              </a:rPr>
              <a:t>Confirm G4M can deliver for Finland (2025–2060 × regime × GWL2/GWL3): assortment-level harvest, ecologically-available fractions, net forest + HWP flux, disturbance mortality/salvage. Spatial resolution &amp; format.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0E5A3E"/>
                </a:solidFill>
                <a:latin typeface="Arial"/>
              </a:rPr>
              <a:t>[M. Bordenave]  </a:t>
            </a:r>
            <a:r>
              <a:rPr sz="1300" b="0" i="0">
                <a:solidFill>
                  <a:srgbClr val="1F2D2D"/>
                </a:solidFill>
                <a:latin typeface="Arial"/>
              </a:rPr>
              <a:t>Prototype the sink-coupling AMPL term against the existing 2035 matrix using literature sink values (Blattert) as a placeholder — demonstrate the mechanism before G4M data arrive.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0E5A3E"/>
                </a:solidFill>
                <a:latin typeface="Arial"/>
              </a:rPr>
              <a:t>[M. Bordenave + IIASA]  </a:t>
            </a:r>
            <a:r>
              <a:rPr sz="1300" b="0" i="0">
                <a:solidFill>
                  <a:srgbClr val="1F2D2D"/>
                </a:solidFill>
                <a:latin typeface="Arial"/>
              </a:rPr>
              <a:t>Map G4M assortments → WOOD_FI1…FI4; settle the FI1 by-product/black-liquor treatment; adopt best Finnish cost data.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0E5A3E"/>
                </a:solidFill>
                <a:latin typeface="Arial"/>
              </a:rPr>
              <a:t>[All]  </a:t>
            </a:r>
            <a:r>
              <a:rPr sz="1300" b="0" i="0">
                <a:solidFill>
                  <a:srgbClr val="1F2D2D"/>
                </a:solidFill>
                <a:latin typeface="Arial"/>
              </a:rPr>
              <a:t>Agree scenario definitions (incl. the new S0 sink-max / net-zero) and the disturbance event design (compound windstorm → beetle, GWL2 primary).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0E5A3E"/>
                </a:solidFill>
                <a:latin typeface="Arial"/>
              </a:rPr>
              <a:t>[IIASA — Schipfer / Tiwari]  </a:t>
            </a:r>
            <a:r>
              <a:rPr sz="1300" b="0" i="0">
                <a:solidFill>
                  <a:srgbClr val="1F2D2D"/>
                </a:solidFill>
                <a:latin typeface="Arial"/>
              </a:rPr>
              <a:t>Scope the BeWhere European extension as a follow-on; identify the shared supply-curve interface and a target joint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28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5A6363"/>
                </a:solidFill>
                <a:latin typeface="Arial"/>
              </a:rPr>
              <a:t>M. Bordenave · Forest–Energy coupling for Finland · IIASA meeting, 9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282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6363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0B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9E8D6"/>
                </a:solidFill>
                <a:latin typeface="Arial"/>
              </a:rPr>
              <a:t>BACKUP</a:t>
            </a:r>
          </a:p>
          <a:p>
            <a:r>
              <a:rPr sz="2400" b="1" i="0">
                <a:solidFill>
                  <a:srgbClr val="FFFFFF"/>
                </a:solidFill>
                <a:latin typeface="Arial"/>
              </a:rPr>
              <a:t>Data provenance &amp; the FI1 / black-liquor flag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 b="1" i="0">
                <a:solidFill>
                  <a:srgbClr val="0E5A3E"/>
                </a:solidFill>
                <a:latin typeface="Arial"/>
              </a:rPr>
              <a:t>—  </a:t>
            </a:r>
            <a:r>
              <a:rPr sz="1300" b="1" i="0">
                <a:solidFill>
                  <a:srgbClr val="1F2D2D"/>
                </a:solidFill>
                <a:latin typeface="Arial"/>
              </a:rPr>
              <a:t>Wood volumes:</a:t>
            </a:r>
            <a:r>
              <a:rPr sz="1300" b="0" i="0">
                <a:solidFill>
                  <a:srgbClr val="1F2D2D"/>
                </a:solidFill>
                <a:latin typeface="Arial"/>
              </a:rPr>
              <a:t> ENSPRESO (JRC) commodity codes → 4 steps; S2 = ENS_Med 2035 (interpolated), S1 = S2 ×1.2, S3 = ENS_Low 2030 revised to 40 TWh (LUKE + Mönkkönen audit). All reproduce exactly (1 PJ = 277.78 GWh).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0E5A3E"/>
                </a:solidFill>
                <a:latin typeface="Arial"/>
              </a:rPr>
              <a:t>—  </a:t>
            </a:r>
            <a:r>
              <a:rPr sz="1300" b="1" i="0">
                <a:solidFill>
                  <a:srgbClr val="1F2D2D"/>
                </a:solidFill>
                <a:latin typeface="Arial"/>
              </a:rPr>
              <a:t>Costs / GHG:</a:t>
            </a:r>
            <a:r>
              <a:rPr sz="1300" b="0" i="0">
                <a:solidFill>
                  <a:srgbClr val="1F2D2D"/>
                </a:solidFill>
                <a:latin typeface="Arial"/>
              </a:rPr>
              <a:t> model assumptions; GHG from RED II Annex VI via Colla (2022). FI2 = 22 €/MWh matches observed Finnish forest-chip prices.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0E5A3E"/>
                </a:solidFill>
                <a:latin typeface="Arial"/>
              </a:rPr>
              <a:t>—  </a:t>
            </a:r>
            <a:r>
              <a:rPr sz="1300" b="1" i="0">
                <a:solidFill>
                  <a:srgbClr val="B9770E"/>
                </a:solidFill>
                <a:latin typeface="Arial"/>
              </a:rPr>
              <a:t>FI1 flag (for IIASA):</a:t>
            </a:r>
            <a:r>
              <a:rPr sz="1300" b="0" i="0">
                <a:solidFill>
                  <a:srgbClr val="1F2D2D"/>
                </a:solidFill>
                <a:latin typeface="Arial"/>
              </a:rPr>
              <a:t> ENSPRESO formally labels the FI1 commodity as stemwood chips; we re-purpose its volume as a proxy for the captive by-product stream (black liquor dominant, 43 TWh in 2017) because black liquor is absent from ENSPRESO. Cost 11 €/MWh is conservative; flagged for a physically grounded G4M split.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0E5A3E"/>
                </a:solidFill>
                <a:latin typeface="Arial"/>
              </a:rPr>
              <a:t>—  </a:t>
            </a:r>
            <a:r>
              <a:rPr sz="1300" b="1" i="0">
                <a:solidFill>
                  <a:srgbClr val="1F2D2D"/>
                </a:solidFill>
                <a:latin typeface="Arial"/>
              </a:rPr>
              <a:t>Reproducibility:</a:t>
            </a:r>
            <a:r>
              <a:rPr sz="1300" b="0" i="0">
                <a:solidFill>
                  <a:srgbClr val="1F2D2D"/>
                </a:solidFill>
                <a:latin typeface="Arial"/>
              </a:rPr>
              <a:t> git tag paper1-finland-forest-v1.0; 9 canonical runs; audit script check_forest_supply_traceability.py (ALL PASS).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28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5A6363"/>
                </a:solidFill>
                <a:latin typeface="Arial"/>
              </a:rPr>
              <a:t>M. Bordenave · Forest–Energy coupling for Finland · IIASA meeting, 9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282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6363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2814</Words>
  <Application>Microsoft Office PowerPoint</Application>
  <PresentationFormat>Widescreen</PresentationFormat>
  <Paragraphs>225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MATTHIEU RENÉ GASTON BORDENAVE</cp:lastModifiedBy>
  <cp:revision>3</cp:revision>
  <dcterms:created xsi:type="dcterms:W3CDTF">2013-01-27T09:14:16Z</dcterms:created>
  <dcterms:modified xsi:type="dcterms:W3CDTF">2026-10-09T13:12:59Z</dcterms:modified>
  <cp:category/>
</cp:coreProperties>
</file>